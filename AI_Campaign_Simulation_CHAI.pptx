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0"/>
  </p:notesMasterIdLst>
  <p:sldIdLst>
    <p:sldId id="256" r:id="rId9"/>
    <p:sldId id="257" r:id="rId8"/>
    <p:sldId id="258" r:id="rId7"/>
    <p:sldId id="259" r:id="rId6"/>
    <p:sldId id="260" r:id="rId5"/>
    <p:sldId id="261" r:id="rId17"/>
    <p:sldId id="262"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DA0DC15-82BA-D07A-53E3-5BF3A4A1E16B}" name="Mohit Chaurasiya" initials="MC" userId="S::mchaurasiya@clintonhealthaccess.org::8051187a-de20-4955-bbf6-0b697bbf94f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9CC5A5-DDA4-4B17-A2F7-F13723452D71}" v="225" dt="2026-06-24T06:45:08.2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7" d="100"/>
          <a:sy n="37" d="100"/>
        </p:scale>
        <p:origin x="98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9832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Blue">
    <p:bg>
      <p:bgPr>
        <a:gradFill flip="none" rotWithShape="1">
          <a:gsLst>
            <a:gs pos="40000">
              <a:schemeClr val="bg2"/>
            </a:gs>
            <a:gs pos="100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1C67E23-EBEF-1F4E-B80F-0B316F5D5588}"/>
              </a:ext>
            </a:extLst>
          </p:cNvPr>
          <p:cNvSpPr>
            <a:spLocks noGrp="1"/>
          </p:cNvSpPr>
          <p:nvPr>
            <p:ph type="ftr" sz="quarter" idx="10"/>
          </p:nvPr>
        </p:nvSpPr>
        <p:spPr/>
        <p:txBody>
          <a:bodyPr/>
          <a:lstStyle>
            <a:lvl1pPr>
              <a:defRPr>
                <a:solidFill>
                  <a:schemeClr val="tx1"/>
                </a:solidFill>
              </a:defRPr>
            </a:lvl1pPr>
          </a:lstStyle>
          <a:p>
            <a:r>
              <a:rPr lang="en-US"/>
              <a:t>FOR CHAI INTERNAL USE ONLY</a:t>
            </a:r>
          </a:p>
        </p:txBody>
      </p:sp>
      <p:sp>
        <p:nvSpPr>
          <p:cNvPr id="8" name="Subtitle 2">
            <a:extLst>
              <a:ext uri="{FF2B5EF4-FFF2-40B4-BE49-F238E27FC236}">
                <a16:creationId xmlns:a16="http://schemas.microsoft.com/office/drawing/2014/main" id="{6DB4A45E-02CD-BF4C-A05D-0D7B06CFEE8A}"/>
              </a:ext>
            </a:extLst>
          </p:cNvPr>
          <p:cNvSpPr>
            <a:spLocks noGrp="1"/>
          </p:cNvSpPr>
          <p:nvPr>
            <p:ph type="subTitle" idx="1" hasCustomPrompt="1"/>
          </p:nvPr>
        </p:nvSpPr>
        <p:spPr>
          <a:xfrm>
            <a:off x="1272539" y="6923315"/>
            <a:ext cx="10972800" cy="1666563"/>
          </a:xfrm>
          <a:prstGeom prst="rect">
            <a:avLst/>
          </a:prstGeom>
        </p:spPr>
        <p:txBody>
          <a:bodyPr lIns="0" rIns="0">
            <a:normAutofit/>
          </a:bodyPr>
          <a:lstStyle>
            <a:lvl1pPr marL="0" indent="0" algn="l">
              <a:buNone/>
              <a:defRPr sz="3600">
                <a:solidFill>
                  <a:schemeClr val="tx1"/>
                </a:solidFill>
              </a:defRPr>
            </a:lvl1pPr>
            <a:lvl2pPr marL="685784" indent="0" algn="ctr">
              <a:buNone/>
              <a:defRPr sz="3000"/>
            </a:lvl2pPr>
            <a:lvl3pPr marL="1371566" indent="0" algn="ctr">
              <a:buNone/>
              <a:defRPr sz="2700"/>
            </a:lvl3pPr>
            <a:lvl4pPr marL="2057349" indent="0" algn="ctr">
              <a:buNone/>
              <a:defRPr sz="2400"/>
            </a:lvl4pPr>
            <a:lvl5pPr marL="2743131" indent="0" algn="ctr">
              <a:buNone/>
              <a:defRPr sz="2400"/>
            </a:lvl5pPr>
            <a:lvl6pPr marL="3428915" indent="0" algn="ctr">
              <a:buNone/>
              <a:defRPr sz="2400"/>
            </a:lvl6pPr>
            <a:lvl7pPr marL="4114697" indent="0" algn="ctr">
              <a:buNone/>
              <a:defRPr sz="2400"/>
            </a:lvl7pPr>
            <a:lvl8pPr marL="4800480" indent="0" algn="ctr">
              <a:buNone/>
              <a:defRPr sz="2400"/>
            </a:lvl8pPr>
            <a:lvl9pPr marL="5486264" indent="0" algn="ctr">
              <a:buNone/>
              <a:defRPr sz="2400"/>
            </a:lvl9pPr>
          </a:lstStyle>
          <a:p>
            <a:r>
              <a:rPr lang="en-US"/>
              <a:t>Click to edit text</a:t>
            </a:r>
          </a:p>
        </p:txBody>
      </p:sp>
      <p:sp>
        <p:nvSpPr>
          <p:cNvPr id="6" name="Title 1">
            <a:extLst>
              <a:ext uri="{FF2B5EF4-FFF2-40B4-BE49-F238E27FC236}">
                <a16:creationId xmlns:a16="http://schemas.microsoft.com/office/drawing/2014/main" id="{E06693F1-6050-9A4B-B542-7F2F587BFB2D}"/>
              </a:ext>
            </a:extLst>
          </p:cNvPr>
          <p:cNvSpPr>
            <a:spLocks noGrp="1"/>
          </p:cNvSpPr>
          <p:nvPr>
            <p:ph type="ctrTitle" hasCustomPrompt="1"/>
          </p:nvPr>
        </p:nvSpPr>
        <p:spPr>
          <a:xfrm>
            <a:off x="1257299" y="3614262"/>
            <a:ext cx="10972800" cy="3104265"/>
          </a:xfrm>
          <a:prstGeom prst="rect">
            <a:avLst/>
          </a:prstGeom>
        </p:spPr>
        <p:txBody>
          <a:bodyPr anchor="b"/>
          <a:lstStyle>
            <a:lvl1pPr algn="l">
              <a:defRPr sz="8100">
                <a:solidFill>
                  <a:schemeClr val="tx1"/>
                </a:solidFill>
              </a:defRPr>
            </a:lvl1pPr>
          </a:lstStyle>
          <a:p>
            <a:r>
              <a:rPr lang="en-US"/>
              <a:t>Insert title here,</a:t>
            </a:r>
            <a:br>
              <a:rPr lang="en-US"/>
            </a:br>
            <a:r>
              <a:rPr lang="en-US"/>
              <a:t>two lines maximum</a:t>
            </a:r>
          </a:p>
        </p:txBody>
      </p:sp>
    </p:spTree>
    <p:extLst>
      <p:ext uri="{BB962C8B-B14F-4D97-AF65-F5344CB8AC3E}">
        <p14:creationId xmlns:p14="http://schemas.microsoft.com/office/powerpoint/2010/main" val="330742939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hit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1C67E23-EBEF-1F4E-B80F-0B316F5D5588}"/>
              </a:ext>
            </a:extLst>
          </p:cNvPr>
          <p:cNvSpPr>
            <a:spLocks noGrp="1"/>
          </p:cNvSpPr>
          <p:nvPr>
            <p:ph type="ftr" sz="quarter" idx="10"/>
          </p:nvPr>
        </p:nvSpPr>
        <p:spPr/>
        <p:txBody>
          <a:bodyPr/>
          <a:lstStyle/>
          <a:p>
            <a:r>
              <a:rPr lang="en-US"/>
              <a:t>FOR CHAI INTERNAL USE ONLY</a:t>
            </a:r>
          </a:p>
        </p:txBody>
      </p:sp>
      <p:sp>
        <p:nvSpPr>
          <p:cNvPr id="7" name="Title 1">
            <a:extLst>
              <a:ext uri="{FF2B5EF4-FFF2-40B4-BE49-F238E27FC236}">
                <a16:creationId xmlns:a16="http://schemas.microsoft.com/office/drawing/2014/main" id="{2540800D-E774-0340-B236-45FDF8D7018E}"/>
              </a:ext>
            </a:extLst>
          </p:cNvPr>
          <p:cNvSpPr>
            <a:spLocks noGrp="1"/>
          </p:cNvSpPr>
          <p:nvPr>
            <p:ph type="ctrTitle" hasCustomPrompt="1"/>
          </p:nvPr>
        </p:nvSpPr>
        <p:spPr>
          <a:xfrm>
            <a:off x="1257299" y="3614262"/>
            <a:ext cx="10972800" cy="3104265"/>
          </a:xfrm>
          <a:prstGeom prst="rect">
            <a:avLst/>
          </a:prstGeom>
        </p:spPr>
        <p:txBody>
          <a:bodyPr anchor="b"/>
          <a:lstStyle>
            <a:lvl1pPr algn="l">
              <a:defRPr sz="8100"/>
            </a:lvl1pPr>
          </a:lstStyle>
          <a:p>
            <a:r>
              <a:rPr lang="en-US"/>
              <a:t>Insert title here, </a:t>
            </a:r>
            <a:br>
              <a:rPr lang="en-US"/>
            </a:br>
            <a:r>
              <a:rPr lang="en-US"/>
              <a:t>two lines maximum</a:t>
            </a:r>
          </a:p>
        </p:txBody>
      </p:sp>
      <p:sp>
        <p:nvSpPr>
          <p:cNvPr id="8" name="Subtitle 2">
            <a:extLst>
              <a:ext uri="{FF2B5EF4-FFF2-40B4-BE49-F238E27FC236}">
                <a16:creationId xmlns:a16="http://schemas.microsoft.com/office/drawing/2014/main" id="{AFC3828B-0DAE-8D4D-A8C8-747445F24FA5}"/>
              </a:ext>
            </a:extLst>
          </p:cNvPr>
          <p:cNvSpPr>
            <a:spLocks noGrp="1"/>
          </p:cNvSpPr>
          <p:nvPr>
            <p:ph type="subTitle" idx="1" hasCustomPrompt="1"/>
          </p:nvPr>
        </p:nvSpPr>
        <p:spPr>
          <a:xfrm>
            <a:off x="1257299" y="6923315"/>
            <a:ext cx="10972800" cy="1666563"/>
          </a:xfrm>
          <a:prstGeom prst="rect">
            <a:avLst/>
          </a:prstGeom>
          <a:solidFill>
            <a:schemeClr val="bg1"/>
          </a:solidFill>
        </p:spPr>
        <p:txBody>
          <a:bodyPr lIns="0" rIns="0">
            <a:normAutofit/>
          </a:bodyPr>
          <a:lstStyle>
            <a:lvl1pPr marL="0" indent="0" algn="l">
              <a:buNone/>
              <a:defRPr sz="3600">
                <a:solidFill>
                  <a:schemeClr val="accent1"/>
                </a:solidFill>
              </a:defRPr>
            </a:lvl1pPr>
            <a:lvl2pPr marL="685784" indent="0" algn="ctr">
              <a:buNone/>
              <a:defRPr sz="3000"/>
            </a:lvl2pPr>
            <a:lvl3pPr marL="1371566" indent="0" algn="ctr">
              <a:buNone/>
              <a:defRPr sz="2700"/>
            </a:lvl3pPr>
            <a:lvl4pPr marL="2057349" indent="0" algn="ctr">
              <a:buNone/>
              <a:defRPr sz="2400"/>
            </a:lvl4pPr>
            <a:lvl5pPr marL="2743131" indent="0" algn="ctr">
              <a:buNone/>
              <a:defRPr sz="2400"/>
            </a:lvl5pPr>
            <a:lvl6pPr marL="3428915" indent="0" algn="ctr">
              <a:buNone/>
              <a:defRPr sz="2400"/>
            </a:lvl6pPr>
            <a:lvl7pPr marL="4114697" indent="0" algn="ctr">
              <a:buNone/>
              <a:defRPr sz="2400"/>
            </a:lvl7pPr>
            <a:lvl8pPr marL="4800480" indent="0" algn="ctr">
              <a:buNone/>
              <a:defRPr sz="2400"/>
            </a:lvl8pPr>
            <a:lvl9pPr marL="5486264" indent="0" algn="ctr">
              <a:buNone/>
              <a:defRPr sz="2400"/>
            </a:lvl9pPr>
          </a:lstStyle>
          <a:p>
            <a:r>
              <a:rPr lang="en-US"/>
              <a:t>Click to edit text</a:t>
            </a:r>
          </a:p>
        </p:txBody>
      </p:sp>
    </p:spTree>
    <p:extLst>
      <p:ext uri="{BB962C8B-B14F-4D97-AF65-F5344CB8AC3E}">
        <p14:creationId xmlns:p14="http://schemas.microsoft.com/office/powerpoint/2010/main" val="2417146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F8B214-A828-6144-BE23-280DA09A6E28}"/>
              </a:ext>
            </a:extLst>
          </p:cNvPr>
          <p:cNvSpPr/>
          <p:nvPr/>
        </p:nvSpPr>
        <p:spPr>
          <a:xfrm>
            <a:off x="-5943600" y="3614262"/>
            <a:ext cx="14401800" cy="10287000"/>
          </a:xfrm>
          <a:prstGeom prst="rect">
            <a:avLst/>
          </a:prstGeom>
          <a:gradFill>
            <a:gsLst>
              <a:gs pos="80000">
                <a:srgbClr val="FFFFFF">
                  <a:alpha val="75000"/>
                </a:srgbClr>
              </a:gs>
              <a:gs pos="40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Footer Placeholder 1">
            <a:extLst>
              <a:ext uri="{FF2B5EF4-FFF2-40B4-BE49-F238E27FC236}">
                <a16:creationId xmlns:a16="http://schemas.microsoft.com/office/drawing/2014/main" id="{231F917B-FC6F-EA4D-AEEB-5BFBF07A23AA}"/>
              </a:ext>
            </a:extLst>
          </p:cNvPr>
          <p:cNvSpPr>
            <a:spLocks noGrp="1"/>
          </p:cNvSpPr>
          <p:nvPr>
            <p:ph type="ftr" sz="quarter" idx="10"/>
          </p:nvPr>
        </p:nvSpPr>
        <p:spPr/>
        <p:txBody>
          <a:bodyPr/>
          <a:lstStyle/>
          <a:p>
            <a:r>
              <a:rPr lang="en-US"/>
              <a:t>FOR CHAI INTERNAL USE ONLY</a:t>
            </a:r>
          </a:p>
        </p:txBody>
      </p:sp>
      <p:sp>
        <p:nvSpPr>
          <p:cNvPr id="15" name="Subtitle 2">
            <a:extLst>
              <a:ext uri="{FF2B5EF4-FFF2-40B4-BE49-F238E27FC236}">
                <a16:creationId xmlns:a16="http://schemas.microsoft.com/office/drawing/2014/main" id="{A7BDB68D-F481-AC4F-BAA6-5840AD2176F6}"/>
              </a:ext>
            </a:extLst>
          </p:cNvPr>
          <p:cNvSpPr>
            <a:spLocks noGrp="1"/>
          </p:cNvSpPr>
          <p:nvPr>
            <p:ph type="subTitle" idx="1" hasCustomPrompt="1"/>
          </p:nvPr>
        </p:nvSpPr>
        <p:spPr>
          <a:xfrm>
            <a:off x="1257301" y="6923315"/>
            <a:ext cx="8235044" cy="1666563"/>
          </a:xfrm>
          <a:prstGeom prst="rect">
            <a:avLst/>
          </a:prstGeom>
        </p:spPr>
        <p:txBody>
          <a:bodyPr lIns="0" rIns="0">
            <a:normAutofit/>
          </a:bodyPr>
          <a:lstStyle>
            <a:lvl1pPr marL="0" indent="0" algn="l">
              <a:buNone/>
              <a:defRPr sz="3600">
                <a:solidFill>
                  <a:schemeClr val="accent1"/>
                </a:solidFill>
              </a:defRPr>
            </a:lvl1pPr>
            <a:lvl2pPr marL="685784" indent="0" algn="ctr">
              <a:buNone/>
              <a:defRPr sz="3000"/>
            </a:lvl2pPr>
            <a:lvl3pPr marL="1371566" indent="0" algn="ctr">
              <a:buNone/>
              <a:defRPr sz="2700"/>
            </a:lvl3pPr>
            <a:lvl4pPr marL="2057349" indent="0" algn="ctr">
              <a:buNone/>
              <a:defRPr sz="2400"/>
            </a:lvl4pPr>
            <a:lvl5pPr marL="2743131" indent="0" algn="ctr">
              <a:buNone/>
              <a:defRPr sz="2400"/>
            </a:lvl5pPr>
            <a:lvl6pPr marL="3428915" indent="0" algn="ctr">
              <a:buNone/>
              <a:defRPr sz="2400"/>
            </a:lvl6pPr>
            <a:lvl7pPr marL="4114697" indent="0" algn="ctr">
              <a:buNone/>
              <a:defRPr sz="2400"/>
            </a:lvl7pPr>
            <a:lvl8pPr marL="4800480" indent="0" algn="ctr">
              <a:buNone/>
              <a:defRPr sz="2400"/>
            </a:lvl8pPr>
            <a:lvl9pPr marL="5486264" indent="0" algn="ctr">
              <a:buNone/>
              <a:defRPr sz="2400"/>
            </a:lvl9pPr>
          </a:lstStyle>
          <a:p>
            <a:r>
              <a:rPr lang="en-US"/>
              <a:t>Click to edit text</a:t>
            </a:r>
          </a:p>
        </p:txBody>
      </p:sp>
      <p:sp>
        <p:nvSpPr>
          <p:cNvPr id="14" name="Title 1">
            <a:extLst>
              <a:ext uri="{FF2B5EF4-FFF2-40B4-BE49-F238E27FC236}">
                <a16:creationId xmlns:a16="http://schemas.microsoft.com/office/drawing/2014/main" id="{014E62FE-0ADE-1E42-875C-7E70F05201F0}"/>
              </a:ext>
            </a:extLst>
          </p:cNvPr>
          <p:cNvSpPr>
            <a:spLocks noGrp="1"/>
          </p:cNvSpPr>
          <p:nvPr>
            <p:ph type="ctrTitle" hasCustomPrompt="1"/>
          </p:nvPr>
        </p:nvSpPr>
        <p:spPr>
          <a:xfrm>
            <a:off x="1257301" y="3614262"/>
            <a:ext cx="8235044" cy="3104265"/>
          </a:xfrm>
          <a:prstGeom prst="rect">
            <a:avLst/>
          </a:prstGeom>
        </p:spPr>
        <p:txBody>
          <a:bodyPr anchor="b"/>
          <a:lstStyle>
            <a:lvl1pPr algn="l">
              <a:defRPr sz="8100"/>
            </a:lvl1pPr>
          </a:lstStyle>
          <a:p>
            <a:r>
              <a:rPr lang="en-US"/>
              <a:t>Insert title here, </a:t>
            </a:r>
            <a:br>
              <a:rPr lang="en-US"/>
            </a:br>
            <a:r>
              <a:rPr lang="en-US"/>
              <a:t>two lines max.</a:t>
            </a:r>
          </a:p>
        </p:txBody>
      </p:sp>
    </p:spTree>
    <p:extLst>
      <p:ext uri="{BB962C8B-B14F-4D97-AF65-F5344CB8AC3E}">
        <p14:creationId xmlns:p14="http://schemas.microsoft.com/office/powerpoint/2010/main" val="428119708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AB200-314D-D34B-AAB4-2175A4BF22EA}"/>
              </a:ext>
            </a:extLst>
          </p:cNvPr>
          <p:cNvSpPr/>
          <p:nvPr/>
        </p:nvSpPr>
        <p:spPr>
          <a:xfrm>
            <a:off x="2754879" y="4573580"/>
            <a:ext cx="12778242" cy="16459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 name="Slide Number Placeholder 2">
            <a:extLst>
              <a:ext uri="{FF2B5EF4-FFF2-40B4-BE49-F238E27FC236}">
                <a16:creationId xmlns:a16="http://schemas.microsoft.com/office/drawing/2014/main" id="{F82CF375-C543-5F4D-9402-202E34DEEA99}"/>
              </a:ext>
            </a:extLst>
          </p:cNvPr>
          <p:cNvSpPr>
            <a:spLocks noGrp="1"/>
          </p:cNvSpPr>
          <p:nvPr>
            <p:ph type="sldNum" sz="quarter" idx="10"/>
          </p:nvPr>
        </p:nvSpPr>
        <p:spPr/>
        <p:txBody>
          <a:bodyPr/>
          <a:lstStyle/>
          <a:p>
            <a:fld id="{48F63A3B-78C7-47BE-AE5E-E10140E04643}" type="slidenum">
              <a:rPr lang="en-US" smtClean="0"/>
              <a:t>‹#›</a:t>
            </a:fld>
            <a:endParaRPr lang="en-US"/>
          </a:p>
        </p:txBody>
      </p:sp>
      <p:sp>
        <p:nvSpPr>
          <p:cNvPr id="4" name="Footer Placeholder 3">
            <a:extLst>
              <a:ext uri="{FF2B5EF4-FFF2-40B4-BE49-F238E27FC236}">
                <a16:creationId xmlns:a16="http://schemas.microsoft.com/office/drawing/2014/main" id="{B0589958-B72F-B84F-83F5-58BC6B1357AA}"/>
              </a:ext>
            </a:extLst>
          </p:cNvPr>
          <p:cNvSpPr>
            <a:spLocks noGrp="1"/>
          </p:cNvSpPr>
          <p:nvPr>
            <p:ph type="ftr" sz="quarter" idx="11"/>
          </p:nvPr>
        </p:nvSpPr>
        <p:spPr/>
        <p:txBody>
          <a:bodyPr/>
          <a:lstStyle/>
          <a:p>
            <a:r>
              <a:rPr lang="en-US"/>
              <a:t>FOR CHAI INTERNAL USE ONLY</a:t>
            </a:r>
          </a:p>
        </p:txBody>
      </p:sp>
      <p:sp>
        <p:nvSpPr>
          <p:cNvPr id="8" name="Rectangle 7">
            <a:extLst>
              <a:ext uri="{FF2B5EF4-FFF2-40B4-BE49-F238E27FC236}">
                <a16:creationId xmlns:a16="http://schemas.microsoft.com/office/drawing/2014/main" id="{F2BB0C8A-F9B0-E448-B60D-08A537787544}"/>
              </a:ext>
            </a:extLst>
          </p:cNvPr>
          <p:cNvSpPr/>
          <p:nvPr/>
        </p:nvSpPr>
        <p:spPr>
          <a:xfrm>
            <a:off x="2754879" y="4573580"/>
            <a:ext cx="12778242" cy="16459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 name="Title 26">
            <a:extLst>
              <a:ext uri="{FF2B5EF4-FFF2-40B4-BE49-F238E27FC236}">
                <a16:creationId xmlns:a16="http://schemas.microsoft.com/office/drawing/2014/main" id="{845391D4-B447-C449-B935-7D9923EA3F1B}"/>
              </a:ext>
            </a:extLst>
          </p:cNvPr>
          <p:cNvSpPr>
            <a:spLocks noGrp="1"/>
          </p:cNvSpPr>
          <p:nvPr>
            <p:ph type="title" hasCustomPrompt="1"/>
          </p:nvPr>
        </p:nvSpPr>
        <p:spPr>
          <a:xfrm>
            <a:off x="2790542" y="2594896"/>
            <a:ext cx="12706916" cy="2194793"/>
          </a:xfrm>
        </p:spPr>
        <p:txBody>
          <a:bodyPr anchor="b" anchorCtr="0"/>
          <a:lstStyle>
            <a:lvl1pPr algn="ctr">
              <a:defRPr sz="5400">
                <a:solidFill>
                  <a:schemeClr val="tx2"/>
                </a:solidFill>
              </a:defRPr>
            </a:lvl1pPr>
          </a:lstStyle>
          <a:p>
            <a:r>
              <a:rPr lang="en-US"/>
              <a:t>Insert section heading here, </a:t>
            </a:r>
            <a:br>
              <a:rPr lang="en-US"/>
            </a:br>
            <a:r>
              <a:rPr lang="en-US"/>
              <a:t>two lines maximum</a:t>
            </a:r>
          </a:p>
        </p:txBody>
      </p:sp>
    </p:spTree>
    <p:extLst>
      <p:ext uri="{BB962C8B-B14F-4D97-AF65-F5344CB8AC3E}">
        <p14:creationId xmlns:p14="http://schemas.microsoft.com/office/powerpoint/2010/main" val="380504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E14899D-9357-1648-93C3-EB09E5785D44}"/>
              </a:ext>
            </a:extLst>
          </p:cNvPr>
          <p:cNvSpPr>
            <a:spLocks noGrp="1"/>
          </p:cNvSpPr>
          <p:nvPr>
            <p:ph sz="quarter" idx="11"/>
          </p:nvPr>
        </p:nvSpPr>
        <p:spPr>
          <a:xfrm>
            <a:off x="640080" y="2194560"/>
            <a:ext cx="17007840" cy="69951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30A5576D-2CA0-254B-B787-BCB1F7D588AD}"/>
              </a:ext>
            </a:extLst>
          </p:cNvPr>
          <p:cNvSpPr>
            <a:spLocks noGrp="1"/>
          </p:cNvSpPr>
          <p:nvPr>
            <p:ph type="sldNum" sz="quarter" idx="12"/>
          </p:nvPr>
        </p:nvSpPr>
        <p:spPr/>
        <p:txBody>
          <a:bodyPr/>
          <a:lstStyle/>
          <a:p>
            <a:fld id="{48F63A3B-78C7-47BE-AE5E-E10140E04643}" type="slidenum">
              <a:rPr lang="en-US" smtClean="0"/>
              <a:t>‹#›</a:t>
            </a:fld>
            <a:endParaRPr lang="en-US"/>
          </a:p>
        </p:txBody>
      </p:sp>
      <p:sp>
        <p:nvSpPr>
          <p:cNvPr id="3" name="Footer Placeholder 2">
            <a:extLst>
              <a:ext uri="{FF2B5EF4-FFF2-40B4-BE49-F238E27FC236}">
                <a16:creationId xmlns:a16="http://schemas.microsoft.com/office/drawing/2014/main" id="{07AE98C0-3136-E847-B3E3-9A8B097307B2}"/>
              </a:ext>
            </a:extLst>
          </p:cNvPr>
          <p:cNvSpPr>
            <a:spLocks noGrp="1"/>
          </p:cNvSpPr>
          <p:nvPr>
            <p:ph type="ftr" sz="quarter" idx="13"/>
          </p:nvPr>
        </p:nvSpPr>
        <p:spPr/>
        <p:txBody>
          <a:bodyPr/>
          <a:lstStyle/>
          <a:p>
            <a:r>
              <a:rPr lang="en-US"/>
              <a:t>FOR CHAI INTERNAL USE ONLY</a:t>
            </a:r>
          </a:p>
        </p:txBody>
      </p:sp>
      <p:sp>
        <p:nvSpPr>
          <p:cNvPr id="4" name="Title 3">
            <a:extLst>
              <a:ext uri="{FF2B5EF4-FFF2-40B4-BE49-F238E27FC236}">
                <a16:creationId xmlns:a16="http://schemas.microsoft.com/office/drawing/2014/main" id="{C24FADF7-3C59-1049-8316-4E87FB0E5D07}"/>
              </a:ext>
            </a:extLst>
          </p:cNvPr>
          <p:cNvSpPr>
            <a:spLocks noGrp="1"/>
          </p:cNvSpPr>
          <p:nvPr>
            <p:ph type="title" hasCustomPrompt="1"/>
          </p:nvPr>
        </p:nvSpPr>
        <p:spPr/>
        <p:txBody>
          <a:bodyPr/>
          <a:lstStyle/>
          <a:p>
            <a:r>
              <a:rPr lang="en-US"/>
              <a:t>Insert your heading here, 2 lines max.</a:t>
            </a:r>
          </a:p>
        </p:txBody>
      </p:sp>
    </p:spTree>
    <p:extLst>
      <p:ext uri="{BB962C8B-B14F-4D97-AF65-F5344CB8AC3E}">
        <p14:creationId xmlns:p14="http://schemas.microsoft.com/office/powerpoint/2010/main" val="3185242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40084" y="2194560"/>
            <a:ext cx="8229599" cy="6995160"/>
          </a:xfrm>
          <a:prstGeom prst="rect">
            <a:avLst/>
          </a:prstGeom>
        </p:spPr>
        <p:txBody>
          <a:bodyPr>
            <a:normAutofit/>
          </a:bodyPr>
          <a:lstStyle>
            <a:lvl1pPr>
              <a:defRPr sz="2700"/>
            </a:lvl1pPr>
            <a:lvl2pPr>
              <a:defRPr sz="2400"/>
            </a:lvl2pPr>
            <a:lvl3pPr>
              <a:defRPr sz="21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A273D64-0464-0B44-AC26-0A4779C8CECB}"/>
              </a:ext>
            </a:extLst>
          </p:cNvPr>
          <p:cNvSpPr>
            <a:spLocks noGrp="1"/>
          </p:cNvSpPr>
          <p:nvPr>
            <p:ph idx="11" hasCustomPrompt="1"/>
          </p:nvPr>
        </p:nvSpPr>
        <p:spPr>
          <a:xfrm>
            <a:off x="9418322" y="2194560"/>
            <a:ext cx="8229599" cy="6995160"/>
          </a:xfrm>
          <a:prstGeom prst="rect">
            <a:avLst/>
          </a:prstGeom>
        </p:spPr>
        <p:txBody>
          <a:bodyPr>
            <a:normAutofit/>
          </a:bodyPr>
          <a:lstStyle>
            <a:lvl1pPr>
              <a:defRPr sz="2700"/>
            </a:lvl1pPr>
            <a:lvl2pPr>
              <a:defRPr sz="2400"/>
            </a:lvl2pPr>
            <a:lvl3pPr>
              <a:defRPr sz="21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0DF24767-E131-C64E-9E04-539AE67BE3E8}"/>
              </a:ext>
            </a:extLst>
          </p:cNvPr>
          <p:cNvSpPr>
            <a:spLocks noGrp="1"/>
          </p:cNvSpPr>
          <p:nvPr>
            <p:ph type="sldNum" sz="quarter" idx="12"/>
          </p:nvPr>
        </p:nvSpPr>
        <p:spPr/>
        <p:txBody>
          <a:bodyPr/>
          <a:lstStyle/>
          <a:p>
            <a:fld id="{48F63A3B-78C7-47BE-AE5E-E10140E04643}" type="slidenum">
              <a:rPr lang="en-US" smtClean="0"/>
              <a:t>‹#›</a:t>
            </a:fld>
            <a:endParaRPr lang="en-US"/>
          </a:p>
        </p:txBody>
      </p:sp>
      <p:sp>
        <p:nvSpPr>
          <p:cNvPr id="4" name="Footer Placeholder 3">
            <a:extLst>
              <a:ext uri="{FF2B5EF4-FFF2-40B4-BE49-F238E27FC236}">
                <a16:creationId xmlns:a16="http://schemas.microsoft.com/office/drawing/2014/main" id="{AD9DB869-A4B9-974F-BE8B-6FC933294067}"/>
              </a:ext>
            </a:extLst>
          </p:cNvPr>
          <p:cNvSpPr>
            <a:spLocks noGrp="1"/>
          </p:cNvSpPr>
          <p:nvPr>
            <p:ph type="ftr" sz="quarter" idx="13"/>
          </p:nvPr>
        </p:nvSpPr>
        <p:spPr/>
        <p:txBody>
          <a:bodyPr/>
          <a:lstStyle/>
          <a:p>
            <a:r>
              <a:rPr lang="en-US"/>
              <a:t>FOR CHAI INTERNAL USE ONLY</a:t>
            </a:r>
          </a:p>
        </p:txBody>
      </p:sp>
      <p:sp>
        <p:nvSpPr>
          <p:cNvPr id="5" name="Title 4">
            <a:extLst>
              <a:ext uri="{FF2B5EF4-FFF2-40B4-BE49-F238E27FC236}">
                <a16:creationId xmlns:a16="http://schemas.microsoft.com/office/drawing/2014/main" id="{CE577E22-0CDF-E540-8C31-526F5DD75F4F}"/>
              </a:ext>
            </a:extLst>
          </p:cNvPr>
          <p:cNvSpPr>
            <a:spLocks noGrp="1"/>
          </p:cNvSpPr>
          <p:nvPr>
            <p:ph type="title" hasCustomPrompt="1"/>
          </p:nvPr>
        </p:nvSpPr>
        <p:spPr/>
        <p:txBody>
          <a:bodyPr/>
          <a:lstStyle/>
          <a:p>
            <a:r>
              <a:rPr lang="en-US"/>
              <a:t>Insert your heading here, 2 lines max.</a:t>
            </a:r>
          </a:p>
        </p:txBody>
      </p:sp>
    </p:spTree>
    <p:extLst>
      <p:ext uri="{BB962C8B-B14F-4D97-AF65-F5344CB8AC3E}">
        <p14:creationId xmlns:p14="http://schemas.microsoft.com/office/powerpoint/2010/main" val="3922171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853A3BD-472F-7443-B521-D583C68A72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782781" y="9684825"/>
            <a:ext cx="582545" cy="311727"/>
          </a:xfrm>
          <a:prstGeom prst="rect">
            <a:avLst/>
          </a:prstGeom>
        </p:spPr>
      </p:pic>
      <p:sp>
        <p:nvSpPr>
          <p:cNvPr id="5" name="Slide Number Placeholder 4">
            <a:extLst>
              <a:ext uri="{FF2B5EF4-FFF2-40B4-BE49-F238E27FC236}">
                <a16:creationId xmlns:a16="http://schemas.microsoft.com/office/drawing/2014/main" id="{14DE3AB3-11B3-2049-BDB1-6852ACB972DA}"/>
              </a:ext>
            </a:extLst>
          </p:cNvPr>
          <p:cNvSpPr>
            <a:spLocks noGrp="1"/>
          </p:cNvSpPr>
          <p:nvPr>
            <p:ph type="sldNum" sz="quarter" idx="10"/>
          </p:nvPr>
        </p:nvSpPr>
        <p:spPr/>
        <p:txBody>
          <a:bodyPr/>
          <a:lstStyle/>
          <a:p>
            <a:fld id="{48F63A3B-78C7-47BE-AE5E-E10140E04643}" type="slidenum">
              <a:rPr lang="en-US" smtClean="0"/>
              <a:t>‹#›</a:t>
            </a:fld>
            <a:endParaRPr lang="en-US"/>
          </a:p>
        </p:txBody>
      </p:sp>
      <p:pic>
        <p:nvPicPr>
          <p:cNvPr id="7" name="Picture 6">
            <a:extLst>
              <a:ext uri="{FF2B5EF4-FFF2-40B4-BE49-F238E27FC236}">
                <a16:creationId xmlns:a16="http://schemas.microsoft.com/office/drawing/2014/main" id="{8CF9D801-FD48-5F41-B999-D2E4D653F30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782781" y="9684825"/>
            <a:ext cx="582545" cy="311727"/>
          </a:xfrm>
          <a:prstGeom prst="rect">
            <a:avLst/>
          </a:prstGeom>
        </p:spPr>
      </p:pic>
      <p:sp>
        <p:nvSpPr>
          <p:cNvPr id="3" name="Footer Placeholder 2">
            <a:extLst>
              <a:ext uri="{FF2B5EF4-FFF2-40B4-BE49-F238E27FC236}">
                <a16:creationId xmlns:a16="http://schemas.microsoft.com/office/drawing/2014/main" id="{39434C1A-3544-414F-AE1C-78E8A29A57BD}"/>
              </a:ext>
            </a:extLst>
          </p:cNvPr>
          <p:cNvSpPr>
            <a:spLocks noGrp="1"/>
          </p:cNvSpPr>
          <p:nvPr>
            <p:ph type="ftr" sz="quarter" idx="11"/>
          </p:nvPr>
        </p:nvSpPr>
        <p:spPr/>
        <p:txBody>
          <a:bodyPr/>
          <a:lstStyle/>
          <a:p>
            <a:r>
              <a:rPr lang="en-US"/>
              <a:t>FOR CHAI INTERNAL USE ONLY</a:t>
            </a:r>
          </a:p>
        </p:txBody>
      </p:sp>
      <p:sp>
        <p:nvSpPr>
          <p:cNvPr id="4" name="Title 3">
            <a:extLst>
              <a:ext uri="{FF2B5EF4-FFF2-40B4-BE49-F238E27FC236}">
                <a16:creationId xmlns:a16="http://schemas.microsoft.com/office/drawing/2014/main" id="{3462A0EE-6F91-2047-BEDD-91270010B581}"/>
              </a:ext>
            </a:extLst>
          </p:cNvPr>
          <p:cNvSpPr>
            <a:spLocks noGrp="1"/>
          </p:cNvSpPr>
          <p:nvPr>
            <p:ph type="title" hasCustomPrompt="1"/>
          </p:nvPr>
        </p:nvSpPr>
        <p:spPr/>
        <p:txBody>
          <a:bodyPr/>
          <a:lstStyle/>
          <a:p>
            <a:r>
              <a:rPr lang="en-US"/>
              <a:t>Insert your heading here, 2 lines max.</a:t>
            </a:r>
          </a:p>
        </p:txBody>
      </p:sp>
    </p:spTree>
    <p:extLst>
      <p:ext uri="{BB962C8B-B14F-4D97-AF65-F5344CB8AC3E}">
        <p14:creationId xmlns:p14="http://schemas.microsoft.com/office/powerpoint/2010/main" val="329239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B52381-AE48-CC4A-A5C7-AEF3FABC3D17}"/>
              </a:ext>
            </a:extLst>
          </p:cNvPr>
          <p:cNvSpPr>
            <a:spLocks noGrp="1"/>
          </p:cNvSpPr>
          <p:nvPr>
            <p:ph type="sldNum" sz="quarter" idx="10"/>
          </p:nvPr>
        </p:nvSpPr>
        <p:spPr/>
        <p:txBody>
          <a:bodyPr/>
          <a:lstStyle/>
          <a:p>
            <a:fld id="{48F63A3B-78C7-47BE-AE5E-E10140E04643}" type="slidenum">
              <a:rPr lang="en-US" smtClean="0"/>
              <a:t>‹#›</a:t>
            </a:fld>
            <a:endParaRPr lang="en-US"/>
          </a:p>
        </p:txBody>
      </p:sp>
      <p:sp>
        <p:nvSpPr>
          <p:cNvPr id="3" name="Footer Placeholder 2">
            <a:extLst>
              <a:ext uri="{FF2B5EF4-FFF2-40B4-BE49-F238E27FC236}">
                <a16:creationId xmlns:a16="http://schemas.microsoft.com/office/drawing/2014/main" id="{8403D931-0750-E843-B7E4-DD3B6436184F}"/>
              </a:ext>
            </a:extLst>
          </p:cNvPr>
          <p:cNvSpPr>
            <a:spLocks noGrp="1"/>
          </p:cNvSpPr>
          <p:nvPr>
            <p:ph type="ftr" sz="quarter" idx="11"/>
          </p:nvPr>
        </p:nvSpPr>
        <p:spPr/>
        <p:txBody>
          <a:bodyPr/>
          <a:lstStyle/>
          <a:p>
            <a:r>
              <a:rPr lang="en-US"/>
              <a:t>FOR CHAI INTERNAL USE ONLY</a:t>
            </a:r>
          </a:p>
        </p:txBody>
      </p:sp>
    </p:spTree>
    <p:extLst>
      <p:ext uri="{BB962C8B-B14F-4D97-AF65-F5344CB8AC3E}">
        <p14:creationId xmlns:p14="http://schemas.microsoft.com/office/powerpoint/2010/main" val="3825083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Final Slide Wh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60E07B-81B3-3946-8C02-27276157F91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6276364" y="5304948"/>
            <a:ext cx="5735279" cy="3703320"/>
          </a:xfrm>
          <a:prstGeom prst="rect">
            <a:avLst/>
          </a:prstGeom>
        </p:spPr>
      </p:pic>
      <p:sp>
        <p:nvSpPr>
          <p:cNvPr id="8" name="Text Placeholder 7">
            <a:extLst>
              <a:ext uri="{FF2B5EF4-FFF2-40B4-BE49-F238E27FC236}">
                <a16:creationId xmlns:a16="http://schemas.microsoft.com/office/drawing/2014/main" id="{2464BDE1-F2CD-304F-A42A-F739371CDB0A}"/>
              </a:ext>
            </a:extLst>
          </p:cNvPr>
          <p:cNvSpPr>
            <a:spLocks noGrp="1"/>
          </p:cNvSpPr>
          <p:nvPr>
            <p:ph type="body" sz="quarter" idx="10" hasCustomPrompt="1"/>
          </p:nvPr>
        </p:nvSpPr>
        <p:spPr>
          <a:xfrm>
            <a:off x="914400" y="2140645"/>
            <a:ext cx="16459200" cy="2324024"/>
          </a:xfrm>
          <a:prstGeom prst="rect">
            <a:avLst/>
          </a:prstGeom>
        </p:spPr>
        <p:txBody>
          <a:bodyPr lIns="0" rIns="0">
            <a:noAutofit/>
          </a:bodyPr>
          <a:lstStyle>
            <a:lvl1pPr marL="19050" indent="-19050" algn="ctr">
              <a:buNone/>
              <a:tabLst/>
              <a:defRPr sz="3600">
                <a:solidFill>
                  <a:schemeClr val="tx2"/>
                </a:solidFill>
              </a:defRPr>
            </a:lvl1pPr>
            <a:lvl2pPr algn="ctr">
              <a:buNone/>
              <a:defRPr sz="2400"/>
            </a:lvl2pPr>
            <a:lvl3pPr algn="ctr">
              <a:buNone/>
              <a:defRPr sz="2100"/>
            </a:lvl3pPr>
            <a:lvl4pPr algn="ctr">
              <a:buNone/>
              <a:defRPr sz="1800"/>
            </a:lvl4pPr>
            <a:lvl5pPr algn="ctr">
              <a:buNone/>
              <a:defRPr sz="1800"/>
            </a:lvl5pPr>
          </a:lstStyle>
          <a:p>
            <a:pPr lvl="0"/>
            <a:r>
              <a:rPr lang="en-US"/>
              <a:t>Click to edit text</a:t>
            </a:r>
          </a:p>
        </p:txBody>
      </p:sp>
      <p:sp>
        <p:nvSpPr>
          <p:cNvPr id="9" name="TextBox 8">
            <a:extLst>
              <a:ext uri="{FF2B5EF4-FFF2-40B4-BE49-F238E27FC236}">
                <a16:creationId xmlns:a16="http://schemas.microsoft.com/office/drawing/2014/main" id="{DC33E2B6-9071-284A-93A2-3A606F0B9A7C}"/>
              </a:ext>
            </a:extLst>
          </p:cNvPr>
          <p:cNvSpPr txBox="1"/>
          <p:nvPr/>
        </p:nvSpPr>
        <p:spPr>
          <a:xfrm>
            <a:off x="5106632" y="8767824"/>
            <a:ext cx="8074742" cy="415498"/>
          </a:xfrm>
          <a:prstGeom prst="rect">
            <a:avLst/>
          </a:prstGeom>
          <a:noFill/>
        </p:spPr>
        <p:txBody>
          <a:bodyPr wrap="square" rtlCol="0">
            <a:spAutoFit/>
          </a:bodyPr>
          <a:lstStyle/>
          <a:p>
            <a:pPr algn="ctr"/>
            <a:r>
              <a:rPr lang="en-US" sz="2100" b="0" i="0">
                <a:solidFill>
                  <a:schemeClr val="accent1"/>
                </a:solidFill>
                <a:latin typeface="+mn-lt"/>
                <a:ea typeface="Fira Sans" panose="020B0503050000020004" pitchFamily="34" charset="0"/>
              </a:rPr>
              <a:t>www.clintonhealthaccess.org</a:t>
            </a:r>
          </a:p>
        </p:txBody>
      </p:sp>
      <p:pic>
        <p:nvPicPr>
          <p:cNvPr id="5" name="Picture 4">
            <a:extLst>
              <a:ext uri="{FF2B5EF4-FFF2-40B4-BE49-F238E27FC236}">
                <a16:creationId xmlns:a16="http://schemas.microsoft.com/office/drawing/2014/main" id="{AFB4C4BB-DBC4-E445-AE03-EFD40214020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6276364" y="5304948"/>
            <a:ext cx="5735279" cy="3703320"/>
          </a:xfrm>
          <a:prstGeom prst="rect">
            <a:avLst/>
          </a:prstGeom>
        </p:spPr>
      </p:pic>
      <p:sp>
        <p:nvSpPr>
          <p:cNvPr id="7" name="TextBox 6">
            <a:extLst>
              <a:ext uri="{FF2B5EF4-FFF2-40B4-BE49-F238E27FC236}">
                <a16:creationId xmlns:a16="http://schemas.microsoft.com/office/drawing/2014/main" id="{64CA6373-11DA-3646-9A1B-C19200BDC448}"/>
              </a:ext>
            </a:extLst>
          </p:cNvPr>
          <p:cNvSpPr txBox="1"/>
          <p:nvPr/>
        </p:nvSpPr>
        <p:spPr>
          <a:xfrm>
            <a:off x="5106632" y="8767824"/>
            <a:ext cx="8074742" cy="415498"/>
          </a:xfrm>
          <a:prstGeom prst="rect">
            <a:avLst/>
          </a:prstGeom>
          <a:noFill/>
        </p:spPr>
        <p:txBody>
          <a:bodyPr wrap="square" rtlCol="0">
            <a:spAutoFit/>
          </a:bodyPr>
          <a:lstStyle/>
          <a:p>
            <a:pPr algn="ctr"/>
            <a:r>
              <a:rPr lang="en-US" sz="2100" b="0" i="0">
                <a:solidFill>
                  <a:schemeClr val="tx2"/>
                </a:solidFill>
                <a:latin typeface="+mn-lt"/>
                <a:ea typeface="Fira Sans" panose="020B0503050000020004" pitchFamily="34" charset="0"/>
              </a:rPr>
              <a:t>www.clintonhealthaccess.org</a:t>
            </a:r>
          </a:p>
        </p:txBody>
      </p:sp>
      <p:sp>
        <p:nvSpPr>
          <p:cNvPr id="2" name="Footer Placeholder 1">
            <a:extLst>
              <a:ext uri="{FF2B5EF4-FFF2-40B4-BE49-F238E27FC236}">
                <a16:creationId xmlns:a16="http://schemas.microsoft.com/office/drawing/2014/main" id="{BBE869BC-B582-A248-B9B7-8DC699140DAE}"/>
              </a:ext>
            </a:extLst>
          </p:cNvPr>
          <p:cNvSpPr>
            <a:spLocks noGrp="1"/>
          </p:cNvSpPr>
          <p:nvPr>
            <p:ph type="ftr" sz="quarter" idx="11"/>
          </p:nvPr>
        </p:nvSpPr>
        <p:spPr/>
        <p:txBody>
          <a:bodyPr/>
          <a:lstStyle/>
          <a:p>
            <a:r>
              <a:rPr lang="en-US"/>
              <a:t>FOR CHAI INTERNAL USE ONLY</a:t>
            </a:r>
          </a:p>
        </p:txBody>
      </p:sp>
      <p:sp>
        <p:nvSpPr>
          <p:cNvPr id="3" name="Slide Number Placeholder 2">
            <a:extLst>
              <a:ext uri="{FF2B5EF4-FFF2-40B4-BE49-F238E27FC236}">
                <a16:creationId xmlns:a16="http://schemas.microsoft.com/office/drawing/2014/main" id="{6E0A81CF-4468-394C-9FD1-F1D7C97EA031}"/>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18511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Final Slide Blu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60E07B-81B3-3946-8C02-27276157F91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6276364" y="5304948"/>
            <a:ext cx="5735279" cy="3703320"/>
          </a:xfrm>
          <a:prstGeom prst="rect">
            <a:avLst/>
          </a:prstGeom>
        </p:spPr>
      </p:pic>
      <p:sp>
        <p:nvSpPr>
          <p:cNvPr id="8" name="Text Placeholder 7">
            <a:extLst>
              <a:ext uri="{FF2B5EF4-FFF2-40B4-BE49-F238E27FC236}">
                <a16:creationId xmlns:a16="http://schemas.microsoft.com/office/drawing/2014/main" id="{2464BDE1-F2CD-304F-A42A-F739371CDB0A}"/>
              </a:ext>
            </a:extLst>
          </p:cNvPr>
          <p:cNvSpPr>
            <a:spLocks noGrp="1"/>
          </p:cNvSpPr>
          <p:nvPr>
            <p:ph type="body" sz="quarter" idx="10" hasCustomPrompt="1"/>
          </p:nvPr>
        </p:nvSpPr>
        <p:spPr>
          <a:xfrm>
            <a:off x="914400" y="2140645"/>
            <a:ext cx="16459200" cy="2324024"/>
          </a:xfrm>
          <a:prstGeom prst="rect">
            <a:avLst/>
          </a:prstGeom>
        </p:spPr>
        <p:txBody>
          <a:bodyPr lIns="0" rIns="0">
            <a:noAutofit/>
          </a:bodyPr>
          <a:lstStyle>
            <a:lvl1pPr marL="19050" indent="-19050" algn="ctr">
              <a:buNone/>
              <a:tabLst/>
              <a:defRPr sz="3600">
                <a:solidFill>
                  <a:schemeClr val="bg1"/>
                </a:solidFill>
              </a:defRPr>
            </a:lvl1pPr>
            <a:lvl2pPr algn="ctr">
              <a:buNone/>
              <a:defRPr sz="2400"/>
            </a:lvl2pPr>
            <a:lvl3pPr algn="ctr">
              <a:buNone/>
              <a:defRPr sz="2100"/>
            </a:lvl3pPr>
            <a:lvl4pPr algn="ctr">
              <a:buNone/>
              <a:defRPr sz="1800"/>
            </a:lvl4pPr>
            <a:lvl5pPr algn="ctr">
              <a:buNone/>
              <a:defRPr sz="1800"/>
            </a:lvl5pPr>
          </a:lstStyle>
          <a:p>
            <a:pPr lvl="0"/>
            <a:r>
              <a:rPr lang="en-US"/>
              <a:t>Click to edit text</a:t>
            </a:r>
          </a:p>
        </p:txBody>
      </p:sp>
      <p:sp>
        <p:nvSpPr>
          <p:cNvPr id="9" name="TextBox 8">
            <a:extLst>
              <a:ext uri="{FF2B5EF4-FFF2-40B4-BE49-F238E27FC236}">
                <a16:creationId xmlns:a16="http://schemas.microsoft.com/office/drawing/2014/main" id="{DC33E2B6-9071-284A-93A2-3A606F0B9A7C}"/>
              </a:ext>
            </a:extLst>
          </p:cNvPr>
          <p:cNvSpPr txBox="1"/>
          <p:nvPr/>
        </p:nvSpPr>
        <p:spPr>
          <a:xfrm>
            <a:off x="5106632" y="8767824"/>
            <a:ext cx="8074742" cy="415498"/>
          </a:xfrm>
          <a:prstGeom prst="rect">
            <a:avLst/>
          </a:prstGeom>
          <a:noFill/>
        </p:spPr>
        <p:txBody>
          <a:bodyPr wrap="square" rtlCol="0">
            <a:spAutoFit/>
          </a:bodyPr>
          <a:lstStyle/>
          <a:p>
            <a:pPr algn="ctr"/>
            <a:r>
              <a:rPr lang="en-US" sz="2100" b="0" i="0">
                <a:solidFill>
                  <a:schemeClr val="accent1"/>
                </a:solidFill>
                <a:latin typeface="+mn-lt"/>
                <a:ea typeface="Fira Sans" panose="020B0503050000020004" pitchFamily="34" charset="0"/>
              </a:rPr>
              <a:t>www.clintonhealthaccess.org</a:t>
            </a:r>
          </a:p>
        </p:txBody>
      </p:sp>
      <p:pic>
        <p:nvPicPr>
          <p:cNvPr id="5" name="Picture 4">
            <a:extLst>
              <a:ext uri="{FF2B5EF4-FFF2-40B4-BE49-F238E27FC236}">
                <a16:creationId xmlns:a16="http://schemas.microsoft.com/office/drawing/2014/main" id="{AFB4C4BB-DBC4-E445-AE03-EFD40214020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276367" y="5304948"/>
            <a:ext cx="5735273" cy="3703320"/>
          </a:xfrm>
          <a:prstGeom prst="rect">
            <a:avLst/>
          </a:prstGeom>
        </p:spPr>
      </p:pic>
      <p:sp>
        <p:nvSpPr>
          <p:cNvPr id="7" name="TextBox 6">
            <a:extLst>
              <a:ext uri="{FF2B5EF4-FFF2-40B4-BE49-F238E27FC236}">
                <a16:creationId xmlns:a16="http://schemas.microsoft.com/office/drawing/2014/main" id="{64CA6373-11DA-3646-9A1B-C19200BDC448}"/>
              </a:ext>
            </a:extLst>
          </p:cNvPr>
          <p:cNvSpPr txBox="1"/>
          <p:nvPr/>
        </p:nvSpPr>
        <p:spPr>
          <a:xfrm>
            <a:off x="5106632" y="8767824"/>
            <a:ext cx="8074742" cy="415498"/>
          </a:xfrm>
          <a:prstGeom prst="rect">
            <a:avLst/>
          </a:prstGeom>
          <a:noFill/>
        </p:spPr>
        <p:txBody>
          <a:bodyPr wrap="square" rtlCol="0">
            <a:spAutoFit/>
          </a:bodyPr>
          <a:lstStyle/>
          <a:p>
            <a:pPr algn="ctr"/>
            <a:r>
              <a:rPr lang="en-US" sz="2100" b="0" i="0">
                <a:solidFill>
                  <a:schemeClr val="bg1"/>
                </a:solidFill>
                <a:latin typeface="+mn-lt"/>
                <a:ea typeface="Fira Sans" panose="020B0503050000020004" pitchFamily="34" charset="0"/>
              </a:rPr>
              <a:t>www.clintonhealthaccess.org</a:t>
            </a:r>
          </a:p>
        </p:txBody>
      </p:sp>
      <p:sp>
        <p:nvSpPr>
          <p:cNvPr id="2" name="Footer Placeholder 1">
            <a:extLst>
              <a:ext uri="{FF2B5EF4-FFF2-40B4-BE49-F238E27FC236}">
                <a16:creationId xmlns:a16="http://schemas.microsoft.com/office/drawing/2014/main" id="{BBE869BC-B582-A248-B9B7-8DC699140DAE}"/>
              </a:ext>
            </a:extLst>
          </p:cNvPr>
          <p:cNvSpPr>
            <a:spLocks noGrp="1"/>
          </p:cNvSpPr>
          <p:nvPr>
            <p:ph type="ftr" sz="quarter" idx="11"/>
          </p:nvPr>
        </p:nvSpPr>
        <p:spPr/>
        <p:txBody>
          <a:bodyPr/>
          <a:lstStyle/>
          <a:p>
            <a:r>
              <a:rPr lang="en-US"/>
              <a:t>FOR CHAI INTERNAL USE ONLY</a:t>
            </a:r>
          </a:p>
        </p:txBody>
      </p:sp>
      <p:sp>
        <p:nvSpPr>
          <p:cNvPr id="3" name="Slide Number Placeholder 2">
            <a:extLst>
              <a:ext uri="{FF2B5EF4-FFF2-40B4-BE49-F238E27FC236}">
                <a16:creationId xmlns:a16="http://schemas.microsoft.com/office/drawing/2014/main" id="{6E0A81CF-4468-394C-9FD1-F1D7C97EA031}"/>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5310032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A9AD1A-DD8A-F74D-B68B-48A6A2DE196A}"/>
              </a:ext>
            </a:extLst>
          </p:cNvPr>
          <p:cNvSpPr/>
          <p:nvPr/>
        </p:nvSpPr>
        <p:spPr>
          <a:xfrm>
            <a:off x="640080" y="1476216"/>
            <a:ext cx="17007840" cy="16459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Placeholder 1"/>
          <p:cNvSpPr>
            <a:spLocks noGrp="1"/>
          </p:cNvSpPr>
          <p:nvPr>
            <p:ph type="title"/>
          </p:nvPr>
        </p:nvSpPr>
        <p:spPr>
          <a:xfrm>
            <a:off x="640081" y="255494"/>
            <a:ext cx="15375368" cy="1366223"/>
          </a:xfrm>
          <a:prstGeom prst="rect">
            <a:avLst/>
          </a:prstGeom>
        </p:spPr>
        <p:txBody>
          <a:bodyPr vert="horz" lIns="0" tIns="0" rIns="0" bIns="0" rtlCol="0" anchor="b">
            <a:noAutofit/>
          </a:bodyPr>
          <a:lstStyle/>
          <a:p>
            <a:r>
              <a:rPr lang="en-US"/>
              <a:t>Insert your heading here, 2 lines max.</a:t>
            </a:r>
          </a:p>
        </p:txBody>
      </p:sp>
      <p:sp>
        <p:nvSpPr>
          <p:cNvPr id="3" name="Text Placeholder 2"/>
          <p:cNvSpPr>
            <a:spLocks noGrp="1"/>
          </p:cNvSpPr>
          <p:nvPr>
            <p:ph type="body" idx="1"/>
          </p:nvPr>
        </p:nvSpPr>
        <p:spPr>
          <a:xfrm>
            <a:off x="640080" y="2057400"/>
            <a:ext cx="17007840" cy="7406640"/>
          </a:xfrm>
          <a:prstGeom prst="rect">
            <a:avLst/>
          </a:prstGeom>
        </p:spPr>
        <p:txBody>
          <a:bodyPr vert="horz" lIns="91440" tIns="45720" rIns="91440" bIns="45720" rtlCol="0">
            <a:norm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11">
            <a:extLst>
              <a:ext uri="{FF2B5EF4-FFF2-40B4-BE49-F238E27FC236}">
                <a16:creationId xmlns:a16="http://schemas.microsoft.com/office/drawing/2014/main" id="{88495102-8EBA-694F-9678-EB70AF840DB1}"/>
              </a:ext>
            </a:extLst>
          </p:cNvPr>
          <p:cNvSpPr>
            <a:spLocks noGrp="1"/>
          </p:cNvSpPr>
          <p:nvPr>
            <p:ph type="sldNum" sz="quarter" idx="4"/>
          </p:nvPr>
        </p:nvSpPr>
        <p:spPr>
          <a:xfrm>
            <a:off x="13533120" y="9534529"/>
            <a:ext cx="4114800" cy="547688"/>
          </a:xfrm>
          <a:prstGeom prst="rect">
            <a:avLst/>
          </a:prstGeom>
        </p:spPr>
        <p:txBody>
          <a:bodyPr vert="horz" lIns="91440" tIns="45720" rIns="91440" bIns="45720" rtlCol="0" anchor="ctr"/>
          <a:lstStyle>
            <a:lvl1pPr algn="r">
              <a:defRPr sz="1500">
                <a:solidFill>
                  <a:schemeClr val="tx1">
                    <a:tint val="75000"/>
                  </a:schemeClr>
                </a:solidFill>
              </a:defRPr>
            </a:lvl1pPr>
          </a:lstStyle>
          <a:p>
            <a:fld id="{48F63A3B-78C7-47BE-AE5E-E10140E04643}" type="slidenum">
              <a:rPr lang="en-US" smtClean="0"/>
              <a:t>‹#›</a:t>
            </a:fld>
            <a:endParaRPr lang="en-US"/>
          </a:p>
        </p:txBody>
      </p:sp>
      <p:sp>
        <p:nvSpPr>
          <p:cNvPr id="4" name="Footer Placeholder 3">
            <a:extLst>
              <a:ext uri="{FF2B5EF4-FFF2-40B4-BE49-F238E27FC236}">
                <a16:creationId xmlns:a16="http://schemas.microsoft.com/office/drawing/2014/main" id="{CFC57BED-AC65-4340-B19D-EF2ECA6963C8}"/>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CHAI INTERNAL USE ONLY</a:t>
            </a:r>
          </a:p>
        </p:txBody>
      </p:sp>
    </p:spTree>
    <p:extLst>
      <p:ext uri="{BB962C8B-B14F-4D97-AF65-F5344CB8AC3E}">
        <p14:creationId xmlns:p14="http://schemas.microsoft.com/office/powerpoint/2010/main" val="281670600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lvl1pPr algn="l" defTabSz="1371566" rtl="0" eaLnBrk="1" latinLnBrk="0" hangingPunct="1">
        <a:lnSpc>
          <a:spcPct val="100000"/>
        </a:lnSpc>
        <a:spcBef>
          <a:spcPct val="0"/>
        </a:spcBef>
        <a:buNone/>
        <a:defRPr sz="3600" b="1" i="0" kern="1200">
          <a:solidFill>
            <a:schemeClr val="tx2"/>
          </a:solidFill>
          <a:latin typeface="+mj-lt"/>
          <a:ea typeface="Trebuchet MS" panose="020B0703020202090204" pitchFamily="34" charset="0"/>
          <a:cs typeface="+mj-cs"/>
        </a:defRPr>
      </a:lvl1pPr>
    </p:titleStyle>
    <p:bodyStyle>
      <a:lvl1pPr marL="342891" indent="-342891" algn="l" defTabSz="1371566" rtl="0" eaLnBrk="1" latinLnBrk="0" hangingPunct="1">
        <a:lnSpc>
          <a:spcPct val="100000"/>
        </a:lnSpc>
        <a:spcBef>
          <a:spcPts val="1500"/>
        </a:spcBef>
        <a:buFont typeface="Arial" panose="020B0604020202020204" pitchFamily="34" charset="0"/>
        <a:buChar char="•"/>
        <a:defRPr sz="2700" b="0" i="0" kern="1200">
          <a:solidFill>
            <a:schemeClr val="tx1"/>
          </a:solidFill>
          <a:latin typeface="+mn-lt"/>
          <a:ea typeface="Trebuchet MS" panose="020B0703020202090204" pitchFamily="34" charset="0"/>
          <a:cs typeface="+mn-cs"/>
        </a:defRPr>
      </a:lvl1pPr>
      <a:lvl2pPr marL="1028675" indent="-342891" algn="l" defTabSz="1371566" rtl="0" eaLnBrk="1" latinLnBrk="0" hangingPunct="1">
        <a:lnSpc>
          <a:spcPct val="100000"/>
        </a:lnSpc>
        <a:spcBef>
          <a:spcPts val="750"/>
        </a:spcBef>
        <a:buFont typeface="Arial" panose="020B0604020202020204" pitchFamily="34" charset="0"/>
        <a:buChar char="•"/>
        <a:defRPr sz="2400" b="0" i="0" kern="1200">
          <a:solidFill>
            <a:schemeClr val="tx1"/>
          </a:solidFill>
          <a:latin typeface="+mn-lt"/>
          <a:ea typeface="Trebuchet MS" panose="020B0703020202090204" pitchFamily="34" charset="0"/>
          <a:cs typeface="+mn-cs"/>
        </a:defRPr>
      </a:lvl2pPr>
      <a:lvl3pPr marL="1714457" indent="-342891" algn="l" defTabSz="1371566" rtl="0" eaLnBrk="1" latinLnBrk="0" hangingPunct="1">
        <a:lnSpc>
          <a:spcPct val="100000"/>
        </a:lnSpc>
        <a:spcBef>
          <a:spcPts val="750"/>
        </a:spcBef>
        <a:buFont typeface="Arial" panose="020B0604020202020204" pitchFamily="34" charset="0"/>
        <a:buChar char="•"/>
        <a:defRPr sz="2100" b="0" i="0" kern="1200">
          <a:solidFill>
            <a:schemeClr val="tx1"/>
          </a:solidFill>
          <a:latin typeface="+mn-lt"/>
          <a:ea typeface="Trebuchet MS" panose="020B0703020202090204" pitchFamily="34" charset="0"/>
          <a:cs typeface="+mn-cs"/>
        </a:defRPr>
      </a:lvl3pPr>
      <a:lvl4pPr marL="2400240" indent="-342891" algn="l" defTabSz="1371566" rtl="0" eaLnBrk="1" latinLnBrk="0" hangingPunct="1">
        <a:lnSpc>
          <a:spcPct val="100000"/>
        </a:lnSpc>
        <a:spcBef>
          <a:spcPts val="750"/>
        </a:spcBef>
        <a:buFont typeface="Arial" panose="020B0604020202020204" pitchFamily="34" charset="0"/>
        <a:buChar char="•"/>
        <a:defRPr sz="1800" b="0" i="0" kern="1200">
          <a:solidFill>
            <a:schemeClr val="tx1"/>
          </a:solidFill>
          <a:latin typeface="+mn-lt"/>
          <a:ea typeface="Trebuchet MS" panose="020B0703020202090204" pitchFamily="34" charset="0"/>
          <a:cs typeface="+mn-cs"/>
        </a:defRPr>
      </a:lvl4pPr>
      <a:lvl5pPr marL="3086024" indent="-342891" algn="l" defTabSz="1371566" rtl="0" eaLnBrk="1" latinLnBrk="0" hangingPunct="1">
        <a:lnSpc>
          <a:spcPct val="100000"/>
        </a:lnSpc>
        <a:spcBef>
          <a:spcPts val="750"/>
        </a:spcBef>
        <a:buFont typeface="Arial" panose="020B0604020202020204" pitchFamily="34" charset="0"/>
        <a:buChar char="•"/>
        <a:defRPr sz="1800" b="0" i="0" kern="1200">
          <a:solidFill>
            <a:schemeClr val="tx1"/>
          </a:solidFill>
          <a:latin typeface="+mn-lt"/>
          <a:ea typeface="Trebuchet MS" panose="020B0703020202090204" pitchFamily="34" charset="0"/>
          <a:cs typeface="+mn-cs"/>
        </a:defRPr>
      </a:lvl5pPr>
      <a:lvl6pPr marL="3771806" indent="-342891" algn="l" defTabSz="1371566"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589" indent="-342891" algn="l" defTabSz="1371566"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371" indent="-342891" algn="l" defTabSz="1371566"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155" indent="-342891" algn="l" defTabSz="1371566"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566" rtl="0" eaLnBrk="1" latinLnBrk="0" hangingPunct="1">
        <a:defRPr sz="2700" kern="1200">
          <a:solidFill>
            <a:schemeClr val="tx1"/>
          </a:solidFill>
          <a:latin typeface="+mn-lt"/>
          <a:ea typeface="+mn-ea"/>
          <a:cs typeface="+mn-cs"/>
        </a:defRPr>
      </a:lvl1pPr>
      <a:lvl2pPr marL="685784" algn="l" defTabSz="1371566" rtl="0" eaLnBrk="1" latinLnBrk="0" hangingPunct="1">
        <a:defRPr sz="2700" kern="1200">
          <a:solidFill>
            <a:schemeClr val="tx1"/>
          </a:solidFill>
          <a:latin typeface="+mn-lt"/>
          <a:ea typeface="+mn-ea"/>
          <a:cs typeface="+mn-cs"/>
        </a:defRPr>
      </a:lvl2pPr>
      <a:lvl3pPr marL="1371566" algn="l" defTabSz="1371566" rtl="0" eaLnBrk="1" latinLnBrk="0" hangingPunct="1">
        <a:defRPr sz="2700" kern="1200">
          <a:solidFill>
            <a:schemeClr val="tx1"/>
          </a:solidFill>
          <a:latin typeface="+mn-lt"/>
          <a:ea typeface="+mn-ea"/>
          <a:cs typeface="+mn-cs"/>
        </a:defRPr>
      </a:lvl3pPr>
      <a:lvl4pPr marL="2057349" algn="l" defTabSz="1371566" rtl="0" eaLnBrk="1" latinLnBrk="0" hangingPunct="1">
        <a:defRPr sz="2700" kern="1200">
          <a:solidFill>
            <a:schemeClr val="tx1"/>
          </a:solidFill>
          <a:latin typeface="+mn-lt"/>
          <a:ea typeface="+mn-ea"/>
          <a:cs typeface="+mn-cs"/>
        </a:defRPr>
      </a:lvl4pPr>
      <a:lvl5pPr marL="2743131" algn="l" defTabSz="1371566" rtl="0" eaLnBrk="1" latinLnBrk="0" hangingPunct="1">
        <a:defRPr sz="2700" kern="1200">
          <a:solidFill>
            <a:schemeClr val="tx1"/>
          </a:solidFill>
          <a:latin typeface="+mn-lt"/>
          <a:ea typeface="+mn-ea"/>
          <a:cs typeface="+mn-cs"/>
        </a:defRPr>
      </a:lvl5pPr>
      <a:lvl6pPr marL="3428915" algn="l" defTabSz="1371566" rtl="0" eaLnBrk="1" latinLnBrk="0" hangingPunct="1">
        <a:defRPr sz="2700" kern="1200">
          <a:solidFill>
            <a:schemeClr val="tx1"/>
          </a:solidFill>
          <a:latin typeface="+mn-lt"/>
          <a:ea typeface="+mn-ea"/>
          <a:cs typeface="+mn-cs"/>
        </a:defRPr>
      </a:lvl6pPr>
      <a:lvl7pPr marL="4114697" algn="l" defTabSz="1371566" rtl="0" eaLnBrk="1" latinLnBrk="0" hangingPunct="1">
        <a:defRPr sz="2700" kern="1200">
          <a:solidFill>
            <a:schemeClr val="tx1"/>
          </a:solidFill>
          <a:latin typeface="+mn-lt"/>
          <a:ea typeface="+mn-ea"/>
          <a:cs typeface="+mn-cs"/>
        </a:defRPr>
      </a:lvl7pPr>
      <a:lvl8pPr marL="4800480" algn="l" defTabSz="1371566" rtl="0" eaLnBrk="1" latinLnBrk="0" hangingPunct="1">
        <a:defRPr sz="2700" kern="1200">
          <a:solidFill>
            <a:schemeClr val="tx1"/>
          </a:solidFill>
          <a:latin typeface="+mn-lt"/>
          <a:ea typeface="+mn-ea"/>
          <a:cs typeface="+mn-cs"/>
        </a:defRPr>
      </a:lvl8pPr>
      <a:lvl9pPr marL="5486264" algn="l" defTabSz="1371566"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pPr>
              <a:defRPr sz="2000">
                <a:latin typeface="Trebuchet MS"/>
              </a:defRPr>
            </a:pPr>
            <a:r>
              <a:t>How digital twins can help your platform understand customers better, test campaign ideas risk-free, and drive measurable sales growth</a:t>
            </a:r>
          </a:p>
        </p:txBody>
      </p:sp>
      <p:sp>
        <p:nvSpPr>
          <p:cNvPr id="3" name="Title 2"/>
          <p:cNvSpPr>
            <a:spLocks noGrp="1"/>
          </p:cNvSpPr>
          <p:nvPr>
            <p:ph type="ctrTitle"/>
          </p:nvPr>
        </p:nvSpPr>
        <p:spPr/>
        <p:txBody>
          <a:bodyPr/>
          <a:lstStyle/>
          <a:p>
            <a:pPr>
              <a:defRPr>
                <a:latin typeface="Trebuchet MS"/>
              </a:defRPr>
            </a:pPr>
            <a:r>
              <a:t>Simulating Customer Behaviour</a:t>
            </a:r>
          </a:p>
          <a:p>
            <a:pPr>
              <a:defRPr>
                <a:latin typeface="Trebuchet MS"/>
              </a:defRPr>
            </a:pPr>
            <a:r>
              <a:t>with AI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latin typeface="Trebuchet MS"/>
              </a:defRPr>
            </a:pPr>
            <a:r>
              <a:t>What your platform gains from this partnership</a:t>
            </a:r>
          </a:p>
        </p:txBody>
      </p:sp>
      <p:sp>
        <p:nvSpPr>
          <p:cNvPr id="3" name="Rounded Rectangle 2"/>
          <p:cNvSpPr/>
          <p:nvPr/>
        </p:nvSpPr>
        <p:spPr>
          <a:xfrm>
            <a:off x="914400" y="3383280"/>
            <a:ext cx="5120640" cy="365760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749040"/>
            <a:ext cx="4389120" cy="731520"/>
          </a:xfrm>
          <a:prstGeom prst="rect">
            <a:avLst/>
          </a:prstGeom>
          <a:noFill/>
        </p:spPr>
        <p:txBody>
          <a:bodyPr wrap="square"/>
          <a:lstStyle/>
          <a:p>
            <a:pPr algn="l">
              <a:defRPr sz="2400" b="1" i="0">
                <a:solidFill>
                  <a:srgbClr val="003D78"/>
                </a:solidFill>
                <a:latin typeface="Trebuchet MS"/>
              </a:defRPr>
            </a:pPr>
            <a:r>
              <a:t>Predict Which Campaigns Sell</a:t>
            </a:r>
          </a:p>
        </p:txBody>
      </p:sp>
      <p:sp>
        <p:nvSpPr>
          <p:cNvPr id="5" name="TextBox 4"/>
          <p:cNvSpPr txBox="1"/>
          <p:nvPr/>
        </p:nvSpPr>
        <p:spPr>
          <a:xfrm>
            <a:off x="1280160" y="4663440"/>
            <a:ext cx="4389120" cy="2011680"/>
          </a:xfrm>
          <a:prstGeom prst="rect">
            <a:avLst/>
          </a:prstGeom>
          <a:noFill/>
        </p:spPr>
        <p:txBody>
          <a:bodyPr wrap="square"/>
          <a:lstStyle/>
          <a:p>
            <a:pPr algn="l">
              <a:defRPr sz="1900" b="0" i="0">
                <a:solidFill>
                  <a:srgbClr val="5A5A5A"/>
                </a:solidFill>
                <a:latin typeface="Trebuchet MS"/>
              </a:defRPr>
            </a:pPr>
            <a:r>
              <a:t>Test every campaign idea on thousands of virtual customers before spending a single rupee. Know which messages convert which segments before you go live.</a:t>
            </a:r>
          </a:p>
        </p:txBody>
      </p:sp>
      <p:sp>
        <p:nvSpPr>
          <p:cNvPr id="6" name="Rounded Rectangle 5"/>
          <p:cNvSpPr/>
          <p:nvPr/>
        </p:nvSpPr>
        <p:spPr>
          <a:xfrm>
            <a:off x="6492240" y="3383280"/>
            <a:ext cx="5120640" cy="365760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3749040"/>
            <a:ext cx="4389120" cy="731520"/>
          </a:xfrm>
          <a:prstGeom prst="rect">
            <a:avLst/>
          </a:prstGeom>
          <a:noFill/>
        </p:spPr>
        <p:txBody>
          <a:bodyPr wrap="square"/>
          <a:lstStyle/>
          <a:p>
            <a:pPr algn="l">
              <a:defRPr sz="2400" b="1" i="0">
                <a:solidFill>
                  <a:srgbClr val="003D78"/>
                </a:solidFill>
                <a:latin typeface="Trebuchet MS"/>
              </a:defRPr>
            </a:pPr>
            <a:r>
              <a:t>Decode Your Customer Base</a:t>
            </a:r>
          </a:p>
        </p:txBody>
      </p:sp>
      <p:sp>
        <p:nvSpPr>
          <p:cNvPr id="8" name="TextBox 7"/>
          <p:cNvSpPr txBox="1"/>
          <p:nvPr/>
        </p:nvSpPr>
        <p:spPr>
          <a:xfrm>
            <a:off x="6858000" y="4663440"/>
            <a:ext cx="4389120" cy="2011680"/>
          </a:xfrm>
          <a:prstGeom prst="rect">
            <a:avLst/>
          </a:prstGeom>
          <a:noFill/>
        </p:spPr>
        <p:txBody>
          <a:bodyPr wrap="square"/>
          <a:lstStyle/>
          <a:p>
            <a:pPr algn="l">
              <a:defRPr sz="1900" b="0" i="0">
                <a:solidFill>
                  <a:srgbClr val="5A5A5A"/>
                </a:solidFill>
                <a:latin typeface="Trebuchet MS"/>
              </a:defRPr>
            </a:pPr>
            <a:r>
              <a:t>Discover the distinct buyer personas visiting your platform — who hesitates, who buys fast, who needs reassurance — and how large each segment is.</a:t>
            </a:r>
          </a:p>
        </p:txBody>
      </p:sp>
      <p:sp>
        <p:nvSpPr>
          <p:cNvPr id="9" name="Rounded Rectangle 8"/>
          <p:cNvSpPr/>
          <p:nvPr/>
        </p:nvSpPr>
        <p:spPr>
          <a:xfrm>
            <a:off x="12070080" y="3383280"/>
            <a:ext cx="5120640" cy="365760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0" y="3749040"/>
            <a:ext cx="4389120" cy="731520"/>
          </a:xfrm>
          <a:prstGeom prst="rect">
            <a:avLst/>
          </a:prstGeom>
          <a:noFill/>
        </p:spPr>
        <p:txBody>
          <a:bodyPr wrap="square"/>
          <a:lstStyle/>
          <a:p>
            <a:pPr algn="l">
              <a:defRPr sz="2400" b="1" i="0">
                <a:solidFill>
                  <a:srgbClr val="003D78"/>
                </a:solidFill>
                <a:latin typeface="Trebuchet MS"/>
              </a:defRPr>
            </a:pPr>
            <a:r>
              <a:t>Increase Sales Per Campaign</a:t>
            </a:r>
          </a:p>
        </p:txBody>
      </p:sp>
      <p:sp>
        <p:nvSpPr>
          <p:cNvPr id="11" name="TextBox 10"/>
          <p:cNvSpPr txBox="1"/>
          <p:nvPr/>
        </p:nvSpPr>
        <p:spPr>
          <a:xfrm>
            <a:off x="12435840" y="4663440"/>
            <a:ext cx="4389120" cy="2011680"/>
          </a:xfrm>
          <a:prstGeom prst="rect">
            <a:avLst/>
          </a:prstGeom>
          <a:noFill/>
        </p:spPr>
        <p:txBody>
          <a:bodyPr wrap="square"/>
          <a:lstStyle/>
          <a:p>
            <a:pPr algn="l">
              <a:defRPr sz="1900" b="0" i="0">
                <a:solidFill>
                  <a:srgbClr val="5A5A5A"/>
                </a:solidFill>
                <a:latin typeface="Trebuchet MS"/>
              </a:defRPr>
            </a:pPr>
            <a:r>
              <a:t>Target the right message to the right persona at the right funnel stage. Reduce cart abandonment, improve repeat purchase, and lift average order value.</a:t>
            </a:r>
          </a:p>
        </p:txBody>
      </p:sp>
      <p:sp>
        <p:nvSpPr>
          <p:cNvPr id="12" name="Rounded Rectangle 11"/>
          <p:cNvSpPr/>
          <p:nvPr/>
        </p:nvSpPr>
        <p:spPr>
          <a:xfrm>
            <a:off x="914400" y="7498079"/>
            <a:ext cx="16459200" cy="3383280"/>
          </a:xfrm>
          <a:prstGeom prst="roundRect">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7717536"/>
            <a:ext cx="5486400" cy="365760"/>
          </a:xfrm>
          <a:prstGeom prst="rect">
            <a:avLst/>
          </a:prstGeom>
          <a:noFill/>
        </p:spPr>
        <p:txBody>
          <a:bodyPr wrap="square"/>
          <a:lstStyle/>
          <a:p>
            <a:pPr algn="l">
              <a:defRPr sz="1600" b="1" i="0">
                <a:solidFill>
                  <a:srgbClr val="6EDBCD"/>
                </a:solidFill>
                <a:latin typeface="Trebuchet MS"/>
              </a:defRPr>
            </a:pPr>
            <a:r>
              <a:t>ILLUSTRATIVE EXAMPLE</a:t>
            </a:r>
          </a:p>
        </p:txBody>
      </p:sp>
      <p:sp>
        <p:nvSpPr>
          <p:cNvPr id="14" name="TextBox 13"/>
          <p:cNvSpPr txBox="1"/>
          <p:nvPr/>
        </p:nvSpPr>
        <p:spPr>
          <a:xfrm>
            <a:off x="1463040" y="8138159"/>
            <a:ext cx="8229600" cy="1097280"/>
          </a:xfrm>
          <a:prstGeom prst="rect">
            <a:avLst/>
          </a:prstGeom>
          <a:noFill/>
        </p:spPr>
        <p:txBody>
          <a:bodyPr wrap="square"/>
          <a:lstStyle/>
          <a:p>
            <a:pPr algn="l">
              <a:defRPr sz="1900" b="0" i="1">
                <a:solidFill>
                  <a:srgbClr val="FFFFFF"/>
                </a:solidFill>
                <a:latin typeface="Trebuchet MS"/>
              </a:defRPr>
            </a:pPr>
            <a:r>
              <a:t>You are planning a discreet-packaging campaign for SRH products. Instead of running it live and risking low ROI, we simulate it on 5,000 virtual customers built from your real data:</a:t>
            </a:r>
          </a:p>
        </p:txBody>
      </p:sp>
      <p:sp>
        <p:nvSpPr>
          <p:cNvPr id="15" name="TextBox 14"/>
          <p:cNvSpPr txBox="1"/>
          <p:nvPr/>
        </p:nvSpPr>
        <p:spPr>
          <a:xfrm>
            <a:off x="10424160" y="7772400"/>
            <a:ext cx="6949440" cy="1645920"/>
          </a:xfrm>
          <a:prstGeom prst="rect">
            <a:avLst/>
          </a:prstGeom>
          <a:noFill/>
        </p:spPr>
        <p:txBody>
          <a:bodyPr wrap="square"/>
          <a:lstStyle/>
          <a:p>
            <a:r>
              <a:rPr sz="2000" b="1" i="0">
                <a:solidFill>
                  <a:srgbClr val="FFFFFF"/>
                </a:solidFill>
                <a:latin typeface="Trebuchet MS"/>
              </a:rPr>
              <a:t>Privacy-Anxious users </a:t>
            </a:r>
            <a:r>
              <a:rPr sz="2000" b="0" i="0">
                <a:solidFill>
                  <a:srgbClr val="6EDBCD"/>
                </a:solidFill>
                <a:latin typeface="Trebuchet MS"/>
              </a:rPr>
              <a:t>+22% with discreet packaging</a:t>
            </a:r>
          </a:p>
          <a:p/>
          <a:p>
            <a:r>
              <a:rPr sz="2000" b="1" i="0">
                <a:solidFill>
                  <a:srgbClr val="FFFFFF"/>
                </a:solidFill>
                <a:latin typeface="Trebuchet MS"/>
              </a:rPr>
              <a:t>Price-Sensitive users </a:t>
            </a:r>
            <a:r>
              <a:rPr sz="2000" b="0" i="0">
                <a:solidFill>
                  <a:srgbClr val="6EDBCD"/>
                </a:solidFill>
                <a:latin typeface="Trebuchet MS"/>
              </a:rPr>
              <a:t>+15% with targeted coupon</a:t>
            </a:r>
          </a:p>
          <a:p/>
          <a:p>
            <a:r>
              <a:rPr sz="2000" b="1" i="0">
                <a:solidFill>
                  <a:srgbClr val="FFFFFF"/>
                </a:solidFill>
                <a:latin typeface="Trebuchet MS"/>
              </a:rPr>
              <a:t>Hesitant Browsers </a:t>
            </a:r>
            <a:r>
              <a:rPr sz="2000" b="0" i="0">
                <a:solidFill>
                  <a:srgbClr val="6EDBCD"/>
                </a:solidFill>
                <a:latin typeface="Trebuchet MS"/>
              </a:rPr>
              <a:t>+19% with doctor Q&amp;A widget</a:t>
            </a:r>
          </a:p>
        </p:txBody>
      </p:sp>
      <p:sp>
        <p:nvSpPr>
          <p:cNvPr id="16" name="TextBox 15"/>
          <p:cNvSpPr txBox="1"/>
          <p:nvPr/>
        </p:nvSpPr>
        <p:spPr>
          <a:xfrm>
            <a:off x="1463040" y="9601200"/>
            <a:ext cx="15361920" cy="914400"/>
          </a:xfrm>
          <a:prstGeom prst="rect">
            <a:avLst/>
          </a:prstGeom>
          <a:noFill/>
        </p:spPr>
        <p:txBody>
          <a:bodyPr wrap="square"/>
          <a:lstStyle/>
          <a:p>
            <a:r>
              <a:rPr sz="2000" b="1" i="0">
                <a:solidFill>
                  <a:srgbClr val="FFFFFF"/>
                </a:solidFill>
                <a:latin typeface="Trebuchet MS"/>
              </a:rPr>
              <a:t>Result: </a:t>
            </a:r>
            <a:r>
              <a:rPr sz="1900" b="0" i="0">
                <a:solidFill>
                  <a:srgbClr val="6EDBCD"/>
                </a:solidFill>
                <a:latin typeface="Trebuchet MS"/>
              </a:rPr>
              <a:t>You launch a targeted campaign — different message per persona — with confidence it outperforms one-size-fits-all.</a:t>
            </a:r>
          </a:p>
        </p:txBody>
      </p:sp>
      <p:sp>
        <p:nvSpPr>
          <p:cNvPr id="17" name="TextBox 16"/>
          <p:cNvSpPr txBox="1"/>
          <p:nvPr/>
        </p:nvSpPr>
        <p:spPr>
          <a:xfrm>
            <a:off x="914400" y="11100815"/>
            <a:ext cx="16459200" cy="731520"/>
          </a:xfrm>
          <a:prstGeom prst="rect">
            <a:avLst/>
          </a:prstGeom>
          <a:noFill/>
        </p:spPr>
        <p:txBody>
          <a:bodyPr wrap="square"/>
          <a:lstStyle/>
          <a:p>
            <a:pPr algn="l">
              <a:defRPr sz="1800" b="0" i="1">
                <a:solidFill>
                  <a:srgbClr val="8C8C8C"/>
                </a:solidFill>
                <a:latin typeface="Trebuchet MS"/>
              </a:defRPr>
            </a:pPr>
            <a:r>
              <a:t>This system evolves into a knowledge base of campaign effectiveness — so future SRH campaigns build on accumulated insights rather than starting from scratch.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latin typeface="Trebuchet MS"/>
              </a:defRPr>
            </a:pPr>
            <a:r>
              <a:t>Your customers, decoded — personas and what moves them</a:t>
            </a:r>
          </a:p>
        </p:txBody>
      </p:sp>
      <p:sp>
        <p:nvSpPr>
          <p:cNvPr id="3" name="TextBox 2"/>
          <p:cNvSpPr txBox="1"/>
          <p:nvPr/>
        </p:nvSpPr>
        <p:spPr>
          <a:xfrm>
            <a:off x="914400" y="2926080"/>
            <a:ext cx="16459200" cy="822960"/>
          </a:xfrm>
          <a:prstGeom prst="rect">
            <a:avLst/>
          </a:prstGeom>
          <a:noFill/>
        </p:spPr>
        <p:txBody>
          <a:bodyPr wrap="square"/>
          <a:lstStyle/>
          <a:p>
            <a:pPr algn="l">
              <a:defRPr sz="2000" b="0" i="0">
                <a:solidFill>
                  <a:srgbClr val="5A5A5A"/>
                </a:solidFill>
                <a:latin typeface="Trebuchet MS"/>
              </a:defRPr>
            </a:pPr>
            <a:r>
              <a:t>Using ML clustering on real website behaviour, we identify distinct customer personas. Each has different blockers and responds to different actions. Understanding the distribution tells you where the biggest sales opportunity lies.</a:t>
            </a:r>
          </a:p>
        </p:txBody>
      </p:sp>
      <p:sp>
        <p:nvSpPr>
          <p:cNvPr id="4" name="Rounded Rectangle 3"/>
          <p:cNvSpPr/>
          <p:nvPr/>
        </p:nvSpPr>
        <p:spPr>
          <a:xfrm>
            <a:off x="914400" y="3931920"/>
            <a:ext cx="5212080" cy="265176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937760" y="4151376"/>
            <a:ext cx="1005840" cy="45720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4151376"/>
            <a:ext cx="1005840" cy="457200"/>
          </a:xfrm>
          <a:prstGeom prst="rect">
            <a:avLst/>
          </a:prstGeom>
          <a:noFill/>
        </p:spPr>
        <p:txBody>
          <a:bodyPr wrap="square"/>
          <a:lstStyle/>
          <a:p>
            <a:pPr algn="ctr">
              <a:defRPr sz="1800" b="1" i="0">
                <a:solidFill>
                  <a:srgbClr val="FFFFFF"/>
                </a:solidFill>
                <a:latin typeface="Trebuchet MS"/>
              </a:defRPr>
            </a:pPr>
            <a:r>
              <a:t>+19%</a:t>
            </a:r>
          </a:p>
        </p:txBody>
      </p:sp>
      <p:sp>
        <p:nvSpPr>
          <p:cNvPr id="7" name="TextBox 6"/>
          <p:cNvSpPr txBox="1"/>
          <p:nvPr/>
        </p:nvSpPr>
        <p:spPr>
          <a:xfrm>
            <a:off x="1188720" y="4114800"/>
            <a:ext cx="3657600" cy="402336"/>
          </a:xfrm>
          <a:prstGeom prst="rect">
            <a:avLst/>
          </a:prstGeom>
          <a:noFill/>
        </p:spPr>
        <p:txBody>
          <a:bodyPr wrap="square"/>
          <a:lstStyle/>
          <a:p>
            <a:pPr algn="l">
              <a:defRPr sz="2000" b="1" i="0">
                <a:solidFill>
                  <a:srgbClr val="003D78"/>
                </a:solidFill>
                <a:latin typeface="Trebuchet MS"/>
              </a:defRPr>
            </a:pPr>
            <a:r>
              <a:t>Hesitant Browser</a:t>
            </a:r>
          </a:p>
        </p:txBody>
      </p:sp>
      <p:sp>
        <p:nvSpPr>
          <p:cNvPr id="8" name="TextBox 7"/>
          <p:cNvSpPr txBox="1"/>
          <p:nvPr/>
        </p:nvSpPr>
        <p:spPr>
          <a:xfrm>
            <a:off x="1188720" y="4517136"/>
            <a:ext cx="3657600" cy="329184"/>
          </a:xfrm>
          <a:prstGeom prst="rect">
            <a:avLst/>
          </a:prstGeom>
          <a:noFill/>
        </p:spPr>
        <p:txBody>
          <a:bodyPr wrap="square"/>
          <a:lstStyle/>
          <a:p>
            <a:pPr algn="l">
              <a:defRPr sz="1600" b="0" i="0">
                <a:solidFill>
                  <a:srgbClr val="8C8C8C"/>
                </a:solidFill>
                <a:latin typeface="Trebuchet MS"/>
              </a:defRPr>
            </a:pPr>
            <a:r>
              <a:t>~25% of visitors</a:t>
            </a:r>
          </a:p>
        </p:txBody>
      </p:sp>
      <p:sp>
        <p:nvSpPr>
          <p:cNvPr id="9" name="TextBox 8"/>
          <p:cNvSpPr txBox="1"/>
          <p:nvPr/>
        </p:nvSpPr>
        <p:spPr>
          <a:xfrm>
            <a:off x="1188720" y="4937760"/>
            <a:ext cx="4663440" cy="1463039"/>
          </a:xfrm>
          <a:prstGeom prst="rect">
            <a:avLst/>
          </a:prstGeom>
          <a:noFill/>
        </p:spPr>
        <p:txBody>
          <a:bodyPr wrap="square"/>
          <a:lstStyle/>
          <a:p>
            <a:r>
              <a:rPr sz="1700" b="1" i="0">
                <a:solidFill>
                  <a:srgbClr val="000000"/>
                </a:solidFill>
                <a:latin typeface="Trebuchet MS"/>
              </a:rPr>
              <a:t>Blocker: </a:t>
            </a:r>
            <a:r>
              <a:rPr sz="1700" b="0" i="0">
                <a:solidFill>
                  <a:srgbClr val="5A5A5A"/>
                </a:solidFill>
                <a:latin typeface="Trebuchet MS"/>
              </a:rPr>
              <a:t>Uncertainty, lack of trust</a:t>
            </a:r>
          </a:p>
          <a:p/>
          <a:p>
            <a:r>
              <a:rPr sz="1700" b="1" i="0">
                <a:solidFill>
                  <a:srgbClr val="117996"/>
                </a:solidFill>
                <a:latin typeface="Trebuchet MS"/>
              </a:rPr>
              <a:t>Action: </a:t>
            </a:r>
            <a:r>
              <a:rPr sz="1700" b="0" i="0">
                <a:solidFill>
                  <a:srgbClr val="5A5A5A"/>
                </a:solidFill>
                <a:latin typeface="Trebuchet MS"/>
              </a:rPr>
              <a:t>Social proof, doctor endorsements, trust badges</a:t>
            </a:r>
          </a:p>
        </p:txBody>
      </p:sp>
      <p:sp>
        <p:nvSpPr>
          <p:cNvPr id="10" name="Rounded Rectangle 9"/>
          <p:cNvSpPr/>
          <p:nvPr/>
        </p:nvSpPr>
        <p:spPr>
          <a:xfrm>
            <a:off x="6583680" y="3931920"/>
            <a:ext cx="5212080" cy="265176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607040" y="4151376"/>
            <a:ext cx="1005840" cy="45720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0" y="4151376"/>
            <a:ext cx="1005840" cy="457200"/>
          </a:xfrm>
          <a:prstGeom prst="rect">
            <a:avLst/>
          </a:prstGeom>
          <a:noFill/>
        </p:spPr>
        <p:txBody>
          <a:bodyPr wrap="square"/>
          <a:lstStyle/>
          <a:p>
            <a:pPr algn="ctr">
              <a:defRPr sz="1800" b="1" i="0">
                <a:solidFill>
                  <a:srgbClr val="FFFFFF"/>
                </a:solidFill>
                <a:latin typeface="Trebuchet MS"/>
              </a:defRPr>
            </a:pPr>
            <a:r>
              <a:t>+22%</a:t>
            </a:r>
          </a:p>
        </p:txBody>
      </p:sp>
      <p:sp>
        <p:nvSpPr>
          <p:cNvPr id="13" name="TextBox 12"/>
          <p:cNvSpPr txBox="1"/>
          <p:nvPr/>
        </p:nvSpPr>
        <p:spPr>
          <a:xfrm>
            <a:off x="6858000" y="4114800"/>
            <a:ext cx="3657600" cy="402336"/>
          </a:xfrm>
          <a:prstGeom prst="rect">
            <a:avLst/>
          </a:prstGeom>
          <a:noFill/>
        </p:spPr>
        <p:txBody>
          <a:bodyPr wrap="square"/>
          <a:lstStyle/>
          <a:p>
            <a:pPr algn="l">
              <a:defRPr sz="2000" b="1" i="0">
                <a:solidFill>
                  <a:srgbClr val="003D78"/>
                </a:solidFill>
                <a:latin typeface="Trebuchet MS"/>
              </a:defRPr>
            </a:pPr>
            <a:r>
              <a:t>Privacy-Anxious</a:t>
            </a:r>
          </a:p>
        </p:txBody>
      </p:sp>
      <p:sp>
        <p:nvSpPr>
          <p:cNvPr id="14" name="TextBox 13"/>
          <p:cNvSpPr txBox="1"/>
          <p:nvPr/>
        </p:nvSpPr>
        <p:spPr>
          <a:xfrm>
            <a:off x="6858000" y="4517136"/>
            <a:ext cx="3657600" cy="329184"/>
          </a:xfrm>
          <a:prstGeom prst="rect">
            <a:avLst/>
          </a:prstGeom>
          <a:noFill/>
        </p:spPr>
        <p:txBody>
          <a:bodyPr wrap="square"/>
          <a:lstStyle/>
          <a:p>
            <a:pPr algn="l">
              <a:defRPr sz="1600" b="0" i="0">
                <a:solidFill>
                  <a:srgbClr val="8C8C8C"/>
                </a:solidFill>
                <a:latin typeface="Trebuchet MS"/>
              </a:defRPr>
            </a:pPr>
            <a:r>
              <a:t>~20% of visitors</a:t>
            </a:r>
          </a:p>
        </p:txBody>
      </p:sp>
      <p:sp>
        <p:nvSpPr>
          <p:cNvPr id="15" name="TextBox 14"/>
          <p:cNvSpPr txBox="1"/>
          <p:nvPr/>
        </p:nvSpPr>
        <p:spPr>
          <a:xfrm>
            <a:off x="6858000" y="4937760"/>
            <a:ext cx="4663440" cy="1463039"/>
          </a:xfrm>
          <a:prstGeom prst="rect">
            <a:avLst/>
          </a:prstGeom>
          <a:noFill/>
        </p:spPr>
        <p:txBody>
          <a:bodyPr wrap="square"/>
          <a:lstStyle/>
          <a:p>
            <a:r>
              <a:rPr sz="1700" b="1" i="0">
                <a:solidFill>
                  <a:srgbClr val="000000"/>
                </a:solidFill>
                <a:latin typeface="Trebuchet MS"/>
              </a:rPr>
              <a:t>Blocker: </a:t>
            </a:r>
            <a:r>
              <a:rPr sz="1700" b="0" i="0">
                <a:solidFill>
                  <a:srgbClr val="5A5A5A"/>
                </a:solidFill>
                <a:latin typeface="Trebuchet MS"/>
              </a:rPr>
              <a:t>Fear of exposure for SRH</a:t>
            </a:r>
          </a:p>
          <a:p/>
          <a:p>
            <a:r>
              <a:rPr sz="1700" b="1" i="0">
                <a:solidFill>
                  <a:srgbClr val="117996"/>
                </a:solidFill>
                <a:latin typeface="Trebuchet MS"/>
              </a:rPr>
              <a:t>Action: </a:t>
            </a:r>
            <a:r>
              <a:rPr sz="1700" b="0" i="0">
                <a:solidFill>
                  <a:srgbClr val="5A5A5A"/>
                </a:solidFill>
                <a:latin typeface="Trebuchet MS"/>
              </a:rPr>
              <a:t>Discreet packaging pledge, privacy assurances</a:t>
            </a:r>
          </a:p>
        </p:txBody>
      </p:sp>
      <p:sp>
        <p:nvSpPr>
          <p:cNvPr id="16" name="Rounded Rectangle 15"/>
          <p:cNvSpPr/>
          <p:nvPr/>
        </p:nvSpPr>
        <p:spPr>
          <a:xfrm>
            <a:off x="12252960" y="3931920"/>
            <a:ext cx="5212080" cy="265176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6276320" y="4151376"/>
            <a:ext cx="1005840" cy="45720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0" y="4151376"/>
            <a:ext cx="1005840" cy="457200"/>
          </a:xfrm>
          <a:prstGeom prst="rect">
            <a:avLst/>
          </a:prstGeom>
          <a:noFill/>
        </p:spPr>
        <p:txBody>
          <a:bodyPr wrap="square"/>
          <a:lstStyle/>
          <a:p>
            <a:pPr algn="ctr">
              <a:defRPr sz="1800" b="1" i="0">
                <a:solidFill>
                  <a:srgbClr val="FFFFFF"/>
                </a:solidFill>
                <a:latin typeface="Trebuchet MS"/>
              </a:defRPr>
            </a:pPr>
            <a:r>
              <a:t>+15%</a:t>
            </a:r>
          </a:p>
        </p:txBody>
      </p:sp>
      <p:sp>
        <p:nvSpPr>
          <p:cNvPr id="19" name="TextBox 18"/>
          <p:cNvSpPr txBox="1"/>
          <p:nvPr/>
        </p:nvSpPr>
        <p:spPr>
          <a:xfrm>
            <a:off x="12527280" y="4114800"/>
            <a:ext cx="3657600" cy="402336"/>
          </a:xfrm>
          <a:prstGeom prst="rect">
            <a:avLst/>
          </a:prstGeom>
          <a:noFill/>
        </p:spPr>
        <p:txBody>
          <a:bodyPr wrap="square"/>
          <a:lstStyle/>
          <a:p>
            <a:pPr algn="l">
              <a:defRPr sz="2000" b="1" i="0">
                <a:solidFill>
                  <a:srgbClr val="003D78"/>
                </a:solidFill>
                <a:latin typeface="Trebuchet MS"/>
              </a:defRPr>
            </a:pPr>
            <a:r>
              <a:t>Price-Sensitive</a:t>
            </a:r>
          </a:p>
        </p:txBody>
      </p:sp>
      <p:sp>
        <p:nvSpPr>
          <p:cNvPr id="20" name="TextBox 19"/>
          <p:cNvSpPr txBox="1"/>
          <p:nvPr/>
        </p:nvSpPr>
        <p:spPr>
          <a:xfrm>
            <a:off x="12527280" y="4517136"/>
            <a:ext cx="3657600" cy="329184"/>
          </a:xfrm>
          <a:prstGeom prst="rect">
            <a:avLst/>
          </a:prstGeom>
          <a:noFill/>
        </p:spPr>
        <p:txBody>
          <a:bodyPr wrap="square"/>
          <a:lstStyle/>
          <a:p>
            <a:pPr algn="l">
              <a:defRPr sz="1600" b="0" i="0">
                <a:solidFill>
                  <a:srgbClr val="8C8C8C"/>
                </a:solidFill>
                <a:latin typeface="Trebuchet MS"/>
              </a:defRPr>
            </a:pPr>
            <a:r>
              <a:t>~20% of visitors</a:t>
            </a:r>
          </a:p>
        </p:txBody>
      </p:sp>
      <p:sp>
        <p:nvSpPr>
          <p:cNvPr id="21" name="TextBox 20"/>
          <p:cNvSpPr txBox="1"/>
          <p:nvPr/>
        </p:nvSpPr>
        <p:spPr>
          <a:xfrm>
            <a:off x="12527280" y="4937760"/>
            <a:ext cx="4663440" cy="1463039"/>
          </a:xfrm>
          <a:prstGeom prst="rect">
            <a:avLst/>
          </a:prstGeom>
          <a:noFill/>
        </p:spPr>
        <p:txBody>
          <a:bodyPr wrap="square"/>
          <a:lstStyle/>
          <a:p>
            <a:r>
              <a:rPr sz="1700" b="1" i="0">
                <a:solidFill>
                  <a:srgbClr val="000000"/>
                </a:solidFill>
                <a:latin typeface="Trebuchet MS"/>
              </a:rPr>
              <a:t>Blocker: </a:t>
            </a:r>
            <a:r>
              <a:rPr sz="1700" b="0" i="0">
                <a:solidFill>
                  <a:srgbClr val="5A5A5A"/>
                </a:solidFill>
                <a:latin typeface="Trebuchet MS"/>
              </a:rPr>
              <a:t>Full price is a dealbreaker</a:t>
            </a:r>
          </a:p>
          <a:p/>
          <a:p>
            <a:r>
              <a:rPr sz="1700" b="1" i="0">
                <a:solidFill>
                  <a:srgbClr val="117996"/>
                </a:solidFill>
                <a:latin typeface="Trebuchet MS"/>
              </a:rPr>
              <a:t>Action: </a:t>
            </a:r>
            <a:r>
              <a:rPr sz="1700" b="0" i="0">
                <a:solidFill>
                  <a:srgbClr val="5A5A5A"/>
                </a:solidFill>
                <a:latin typeface="Trebuchet MS"/>
              </a:rPr>
              <a:t>Targeted coupons, bundle offers, first-order discounts</a:t>
            </a:r>
          </a:p>
        </p:txBody>
      </p:sp>
      <p:sp>
        <p:nvSpPr>
          <p:cNvPr id="22" name="Rounded Rectangle 21"/>
          <p:cNvSpPr/>
          <p:nvPr/>
        </p:nvSpPr>
        <p:spPr>
          <a:xfrm>
            <a:off x="914400" y="6949440"/>
            <a:ext cx="5212080" cy="265176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37760" y="7168896"/>
            <a:ext cx="1005840" cy="45720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7168896"/>
            <a:ext cx="1005840" cy="457200"/>
          </a:xfrm>
          <a:prstGeom prst="rect">
            <a:avLst/>
          </a:prstGeom>
          <a:noFill/>
        </p:spPr>
        <p:txBody>
          <a:bodyPr wrap="square"/>
          <a:lstStyle/>
          <a:p>
            <a:pPr algn="ctr">
              <a:defRPr sz="1800" b="1" i="0">
                <a:solidFill>
                  <a:srgbClr val="FFFFFF"/>
                </a:solidFill>
                <a:latin typeface="Trebuchet MS"/>
              </a:defRPr>
            </a:pPr>
            <a:r>
              <a:t>+18%</a:t>
            </a:r>
          </a:p>
        </p:txBody>
      </p:sp>
      <p:sp>
        <p:nvSpPr>
          <p:cNvPr id="25" name="TextBox 24"/>
          <p:cNvSpPr txBox="1"/>
          <p:nvPr/>
        </p:nvSpPr>
        <p:spPr>
          <a:xfrm>
            <a:off x="1188720" y="7132320"/>
            <a:ext cx="3657600" cy="402336"/>
          </a:xfrm>
          <a:prstGeom prst="rect">
            <a:avLst/>
          </a:prstGeom>
          <a:noFill/>
        </p:spPr>
        <p:txBody>
          <a:bodyPr wrap="square"/>
          <a:lstStyle/>
          <a:p>
            <a:pPr algn="l">
              <a:defRPr sz="2000" b="1" i="0">
                <a:solidFill>
                  <a:srgbClr val="003D78"/>
                </a:solidFill>
                <a:latin typeface="Trebuchet MS"/>
              </a:defRPr>
            </a:pPr>
            <a:r>
              <a:t>Information Seeker</a:t>
            </a:r>
          </a:p>
        </p:txBody>
      </p:sp>
      <p:sp>
        <p:nvSpPr>
          <p:cNvPr id="26" name="TextBox 25"/>
          <p:cNvSpPr txBox="1"/>
          <p:nvPr/>
        </p:nvSpPr>
        <p:spPr>
          <a:xfrm>
            <a:off x="1188720" y="7534656"/>
            <a:ext cx="3657600" cy="329184"/>
          </a:xfrm>
          <a:prstGeom prst="rect">
            <a:avLst/>
          </a:prstGeom>
          <a:noFill/>
        </p:spPr>
        <p:txBody>
          <a:bodyPr wrap="square"/>
          <a:lstStyle/>
          <a:p>
            <a:pPr algn="l">
              <a:defRPr sz="1600" b="0" i="0">
                <a:solidFill>
                  <a:srgbClr val="8C8C8C"/>
                </a:solidFill>
                <a:latin typeface="Trebuchet MS"/>
              </a:defRPr>
            </a:pPr>
            <a:r>
              <a:t>~15% of visitors</a:t>
            </a:r>
          </a:p>
        </p:txBody>
      </p:sp>
      <p:sp>
        <p:nvSpPr>
          <p:cNvPr id="27" name="TextBox 26"/>
          <p:cNvSpPr txBox="1"/>
          <p:nvPr/>
        </p:nvSpPr>
        <p:spPr>
          <a:xfrm>
            <a:off x="1188720" y="7955279"/>
            <a:ext cx="4663440" cy="1463039"/>
          </a:xfrm>
          <a:prstGeom prst="rect">
            <a:avLst/>
          </a:prstGeom>
          <a:noFill/>
        </p:spPr>
        <p:txBody>
          <a:bodyPr wrap="square"/>
          <a:lstStyle/>
          <a:p>
            <a:r>
              <a:rPr sz="1700" b="1" i="0">
                <a:solidFill>
                  <a:srgbClr val="000000"/>
                </a:solidFill>
                <a:latin typeface="Trebuchet MS"/>
              </a:rPr>
              <a:t>Blocker: </a:t>
            </a:r>
            <a:r>
              <a:rPr sz="1700" b="0" i="0">
                <a:solidFill>
                  <a:srgbClr val="5A5A5A"/>
                </a:solidFill>
                <a:latin typeface="Trebuchet MS"/>
              </a:rPr>
              <a:t>Needs clinical evidence</a:t>
            </a:r>
          </a:p>
          <a:p/>
          <a:p>
            <a:r>
              <a:rPr sz="1700" b="1" i="0">
                <a:solidFill>
                  <a:srgbClr val="117996"/>
                </a:solidFill>
                <a:latin typeface="Trebuchet MS"/>
              </a:rPr>
              <a:t>Action: </a:t>
            </a:r>
            <a:r>
              <a:rPr sz="1700" b="0" i="0">
                <a:solidFill>
                  <a:srgbClr val="5A5A5A"/>
                </a:solidFill>
                <a:latin typeface="Trebuchet MS"/>
              </a:rPr>
              <a:t>Educational content, Q&amp;A widgets, expert articles</a:t>
            </a:r>
          </a:p>
        </p:txBody>
      </p:sp>
      <p:sp>
        <p:nvSpPr>
          <p:cNvPr id="28" name="Rounded Rectangle 27"/>
          <p:cNvSpPr/>
          <p:nvPr/>
        </p:nvSpPr>
        <p:spPr>
          <a:xfrm>
            <a:off x="6583680" y="6949440"/>
            <a:ext cx="5212080" cy="265176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607040" y="7168896"/>
            <a:ext cx="1005840" cy="45720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07040" y="7168896"/>
            <a:ext cx="1005840" cy="457200"/>
          </a:xfrm>
          <a:prstGeom prst="rect">
            <a:avLst/>
          </a:prstGeom>
          <a:noFill/>
        </p:spPr>
        <p:txBody>
          <a:bodyPr wrap="square"/>
          <a:lstStyle/>
          <a:p>
            <a:pPr algn="ctr">
              <a:defRPr sz="1800" b="1" i="0">
                <a:solidFill>
                  <a:srgbClr val="FFFFFF"/>
                </a:solidFill>
                <a:latin typeface="Trebuchet MS"/>
              </a:defRPr>
            </a:pPr>
            <a:r>
              <a:t>+8%</a:t>
            </a:r>
          </a:p>
        </p:txBody>
      </p:sp>
      <p:sp>
        <p:nvSpPr>
          <p:cNvPr id="31" name="TextBox 30"/>
          <p:cNvSpPr txBox="1"/>
          <p:nvPr/>
        </p:nvSpPr>
        <p:spPr>
          <a:xfrm>
            <a:off x="6858000" y="7132320"/>
            <a:ext cx="3657600" cy="402336"/>
          </a:xfrm>
          <a:prstGeom prst="rect">
            <a:avLst/>
          </a:prstGeom>
          <a:noFill/>
        </p:spPr>
        <p:txBody>
          <a:bodyPr wrap="square"/>
          <a:lstStyle/>
          <a:p>
            <a:pPr algn="l">
              <a:defRPr sz="2000" b="1" i="0">
                <a:solidFill>
                  <a:srgbClr val="003D78"/>
                </a:solidFill>
                <a:latin typeface="Trebuchet MS"/>
              </a:defRPr>
            </a:pPr>
            <a:r>
              <a:t>Confident Buyer</a:t>
            </a:r>
          </a:p>
        </p:txBody>
      </p:sp>
      <p:sp>
        <p:nvSpPr>
          <p:cNvPr id="32" name="TextBox 31"/>
          <p:cNvSpPr txBox="1"/>
          <p:nvPr/>
        </p:nvSpPr>
        <p:spPr>
          <a:xfrm>
            <a:off x="6858000" y="7534656"/>
            <a:ext cx="3657600" cy="329184"/>
          </a:xfrm>
          <a:prstGeom prst="rect">
            <a:avLst/>
          </a:prstGeom>
          <a:noFill/>
        </p:spPr>
        <p:txBody>
          <a:bodyPr wrap="square"/>
          <a:lstStyle/>
          <a:p>
            <a:pPr algn="l">
              <a:defRPr sz="1600" b="0" i="0">
                <a:solidFill>
                  <a:srgbClr val="8C8C8C"/>
                </a:solidFill>
                <a:latin typeface="Trebuchet MS"/>
              </a:defRPr>
            </a:pPr>
            <a:r>
              <a:t>~12% of visitors</a:t>
            </a:r>
          </a:p>
        </p:txBody>
      </p:sp>
      <p:sp>
        <p:nvSpPr>
          <p:cNvPr id="33" name="TextBox 32"/>
          <p:cNvSpPr txBox="1"/>
          <p:nvPr/>
        </p:nvSpPr>
        <p:spPr>
          <a:xfrm>
            <a:off x="6858000" y="7955279"/>
            <a:ext cx="4663440" cy="1463039"/>
          </a:xfrm>
          <a:prstGeom prst="rect">
            <a:avLst/>
          </a:prstGeom>
          <a:noFill/>
        </p:spPr>
        <p:txBody>
          <a:bodyPr wrap="square"/>
          <a:lstStyle/>
          <a:p>
            <a:r>
              <a:rPr sz="1700" b="1" i="0">
                <a:solidFill>
                  <a:srgbClr val="000000"/>
                </a:solidFill>
                <a:latin typeface="Trebuchet MS"/>
              </a:rPr>
              <a:t>Blocker: </a:t>
            </a:r>
            <a:r>
              <a:rPr sz="1700" b="0" i="0">
                <a:solidFill>
                  <a:srgbClr val="5A5A5A"/>
                </a:solidFill>
                <a:latin typeface="Trebuchet MS"/>
              </a:rPr>
              <a:t>Friction in checkout flow</a:t>
            </a:r>
          </a:p>
          <a:p/>
          <a:p>
            <a:r>
              <a:rPr sz="1700" b="1" i="0">
                <a:solidFill>
                  <a:srgbClr val="117996"/>
                </a:solidFill>
                <a:latin typeface="Trebuchet MS"/>
              </a:rPr>
              <a:t>Action: </a:t>
            </a:r>
            <a:r>
              <a:rPr sz="1700" b="0" i="0">
                <a:solidFill>
                  <a:srgbClr val="5A5A5A"/>
                </a:solidFill>
                <a:latin typeface="Trebuchet MS"/>
              </a:rPr>
              <a:t>Streamlined checkout, saved preferences, express reorder</a:t>
            </a:r>
          </a:p>
        </p:txBody>
      </p:sp>
      <p:sp>
        <p:nvSpPr>
          <p:cNvPr id="34" name="Rounded Rectangle 33"/>
          <p:cNvSpPr/>
          <p:nvPr/>
        </p:nvSpPr>
        <p:spPr>
          <a:xfrm>
            <a:off x="12252960" y="6949440"/>
            <a:ext cx="5212080" cy="265176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6276320" y="7168896"/>
            <a:ext cx="1005840" cy="45720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276320" y="7168896"/>
            <a:ext cx="1005840" cy="457200"/>
          </a:xfrm>
          <a:prstGeom prst="rect">
            <a:avLst/>
          </a:prstGeom>
          <a:noFill/>
        </p:spPr>
        <p:txBody>
          <a:bodyPr wrap="square"/>
          <a:lstStyle/>
          <a:p>
            <a:pPr algn="ctr">
              <a:defRPr sz="1800" b="1" i="0">
                <a:solidFill>
                  <a:srgbClr val="FFFFFF"/>
                </a:solidFill>
                <a:latin typeface="Trebuchet MS"/>
              </a:defRPr>
            </a:pPr>
            <a:r>
              <a:t>+12%</a:t>
            </a:r>
          </a:p>
        </p:txBody>
      </p:sp>
      <p:sp>
        <p:nvSpPr>
          <p:cNvPr id="37" name="TextBox 36"/>
          <p:cNvSpPr txBox="1"/>
          <p:nvPr/>
        </p:nvSpPr>
        <p:spPr>
          <a:xfrm>
            <a:off x="12527280" y="7132320"/>
            <a:ext cx="3657600" cy="402336"/>
          </a:xfrm>
          <a:prstGeom prst="rect">
            <a:avLst/>
          </a:prstGeom>
          <a:noFill/>
        </p:spPr>
        <p:txBody>
          <a:bodyPr wrap="square"/>
          <a:lstStyle/>
          <a:p>
            <a:pPr algn="l">
              <a:defRPr sz="2000" b="1" i="0">
                <a:solidFill>
                  <a:srgbClr val="003D78"/>
                </a:solidFill>
                <a:latin typeface="Trebuchet MS"/>
              </a:defRPr>
            </a:pPr>
            <a:r>
              <a:t>Returning Customer</a:t>
            </a:r>
          </a:p>
        </p:txBody>
      </p:sp>
      <p:sp>
        <p:nvSpPr>
          <p:cNvPr id="38" name="TextBox 37"/>
          <p:cNvSpPr txBox="1"/>
          <p:nvPr/>
        </p:nvSpPr>
        <p:spPr>
          <a:xfrm>
            <a:off x="12527280" y="7534656"/>
            <a:ext cx="3657600" cy="329184"/>
          </a:xfrm>
          <a:prstGeom prst="rect">
            <a:avLst/>
          </a:prstGeom>
          <a:noFill/>
        </p:spPr>
        <p:txBody>
          <a:bodyPr wrap="square"/>
          <a:lstStyle/>
          <a:p>
            <a:pPr algn="l">
              <a:defRPr sz="1600" b="0" i="0">
                <a:solidFill>
                  <a:srgbClr val="8C8C8C"/>
                </a:solidFill>
                <a:latin typeface="Trebuchet MS"/>
              </a:defRPr>
            </a:pPr>
            <a:r>
              <a:t>~8% of visitors</a:t>
            </a:r>
          </a:p>
        </p:txBody>
      </p:sp>
      <p:sp>
        <p:nvSpPr>
          <p:cNvPr id="39" name="TextBox 38"/>
          <p:cNvSpPr txBox="1"/>
          <p:nvPr/>
        </p:nvSpPr>
        <p:spPr>
          <a:xfrm>
            <a:off x="12527280" y="7955279"/>
            <a:ext cx="4663440" cy="1463039"/>
          </a:xfrm>
          <a:prstGeom prst="rect">
            <a:avLst/>
          </a:prstGeom>
          <a:noFill/>
        </p:spPr>
        <p:txBody>
          <a:bodyPr wrap="square"/>
          <a:lstStyle/>
          <a:p>
            <a:r>
              <a:rPr sz="1700" b="1" i="0">
                <a:solidFill>
                  <a:srgbClr val="000000"/>
                </a:solidFill>
                <a:latin typeface="Trebuchet MS"/>
              </a:rPr>
              <a:t>Blocker: </a:t>
            </a:r>
            <a:r>
              <a:rPr sz="1700" b="0" i="0">
                <a:solidFill>
                  <a:srgbClr val="5A5A5A"/>
                </a:solidFill>
                <a:latin typeface="Trebuchet MS"/>
              </a:rPr>
              <a:t>Lack of personalisation</a:t>
            </a:r>
          </a:p>
          <a:p/>
          <a:p>
            <a:r>
              <a:rPr sz="1700" b="1" i="0">
                <a:solidFill>
                  <a:srgbClr val="117996"/>
                </a:solidFill>
                <a:latin typeface="Trebuchet MS"/>
              </a:rPr>
              <a:t>Action: </a:t>
            </a:r>
            <a:r>
              <a:rPr sz="1700" b="0" i="0">
                <a:solidFill>
                  <a:srgbClr val="5A5A5A"/>
                </a:solidFill>
                <a:latin typeface="Trebuchet MS"/>
              </a:rPr>
              <a:t>Loyalty rewards, subscription prompts, personalised recs</a:t>
            </a:r>
          </a:p>
        </p:txBody>
      </p:sp>
      <p:sp>
        <p:nvSpPr>
          <p:cNvPr id="40" name="TextBox 39"/>
          <p:cNvSpPr txBox="1"/>
          <p:nvPr/>
        </p:nvSpPr>
        <p:spPr>
          <a:xfrm>
            <a:off x="914400" y="9418320"/>
            <a:ext cx="16459200" cy="548640"/>
          </a:xfrm>
          <a:prstGeom prst="rect">
            <a:avLst/>
          </a:prstGeom>
          <a:noFill/>
        </p:spPr>
        <p:txBody>
          <a:bodyPr wrap="square"/>
          <a:lstStyle/>
          <a:p>
            <a:pPr algn="l">
              <a:defRPr sz="1600" b="0" i="1">
                <a:solidFill>
                  <a:srgbClr val="8C8C8C"/>
                </a:solidFill>
                <a:latin typeface="Trebuchet MS"/>
              </a:defRPr>
            </a:pPr>
            <a:r>
              <a:t>Share percentages and conversion lifts are indicative — actual values will be derived from your platform data through ML clustering and simulation calibration.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latin typeface="Trebuchet MS"/>
              </a:defRPr>
            </a:pPr>
            <a:r>
              <a:t>How the simulation works — and what data we need</a:t>
            </a:r>
          </a:p>
        </p:txBody>
      </p:sp>
      <p:sp>
        <p:nvSpPr>
          <p:cNvPr id="3" name="Oval 2"/>
          <p:cNvSpPr/>
          <p:nvPr/>
        </p:nvSpPr>
        <p:spPr>
          <a:xfrm>
            <a:off x="1965960" y="2926080"/>
            <a:ext cx="822960" cy="822960"/>
          </a:xfrm>
          <a:prstGeom prst="ellipse">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65960" y="2962656"/>
            <a:ext cx="822960" cy="822960"/>
          </a:xfrm>
          <a:prstGeom prst="rect">
            <a:avLst/>
          </a:prstGeom>
          <a:noFill/>
        </p:spPr>
        <p:txBody>
          <a:bodyPr wrap="square"/>
          <a:lstStyle/>
          <a:p>
            <a:pPr algn="ctr">
              <a:defRPr sz="3200" b="1" i="0">
                <a:solidFill>
                  <a:srgbClr val="FFFFFF"/>
                </a:solidFill>
                <a:latin typeface="Trebuchet MS"/>
              </a:defRPr>
            </a:pPr>
            <a:r>
              <a:t>1</a:t>
            </a:r>
          </a:p>
        </p:txBody>
      </p:sp>
      <p:sp>
        <p:nvSpPr>
          <p:cNvPr id="5" name="TextBox 4"/>
          <p:cNvSpPr txBox="1"/>
          <p:nvPr/>
        </p:nvSpPr>
        <p:spPr>
          <a:xfrm>
            <a:off x="3877056" y="3108960"/>
            <a:ext cx="329184" cy="457200"/>
          </a:xfrm>
          <a:prstGeom prst="rect">
            <a:avLst/>
          </a:prstGeom>
          <a:noFill/>
        </p:spPr>
        <p:txBody>
          <a:bodyPr wrap="square"/>
          <a:lstStyle/>
          <a:p>
            <a:pPr algn="ctr">
              <a:defRPr sz="2800" b="0" i="0">
                <a:solidFill>
                  <a:srgbClr val="117996"/>
                </a:solidFill>
                <a:latin typeface="Trebuchet MS"/>
              </a:defRPr>
            </a:pPr>
            <a:r>
              <a:t>→</a:t>
            </a:r>
          </a:p>
        </p:txBody>
      </p:sp>
      <p:sp>
        <p:nvSpPr>
          <p:cNvPr id="6" name="TextBox 5"/>
          <p:cNvSpPr txBox="1"/>
          <p:nvPr/>
        </p:nvSpPr>
        <p:spPr>
          <a:xfrm>
            <a:off x="914400" y="3931920"/>
            <a:ext cx="2926080" cy="457200"/>
          </a:xfrm>
          <a:prstGeom prst="rect">
            <a:avLst/>
          </a:prstGeom>
          <a:noFill/>
        </p:spPr>
        <p:txBody>
          <a:bodyPr wrap="square"/>
          <a:lstStyle/>
          <a:p>
            <a:pPr algn="ctr">
              <a:defRPr sz="2100" b="1" i="0">
                <a:solidFill>
                  <a:srgbClr val="000000"/>
                </a:solidFill>
                <a:latin typeface="Trebuchet MS"/>
              </a:defRPr>
            </a:pPr>
            <a:r>
              <a:t>Identify Personas</a:t>
            </a:r>
          </a:p>
        </p:txBody>
      </p:sp>
      <p:sp>
        <p:nvSpPr>
          <p:cNvPr id="7" name="TextBox 6"/>
          <p:cNvSpPr txBox="1"/>
          <p:nvPr/>
        </p:nvSpPr>
        <p:spPr>
          <a:xfrm>
            <a:off x="914400" y="4389120"/>
            <a:ext cx="2926080" cy="1188720"/>
          </a:xfrm>
          <a:prstGeom prst="rect">
            <a:avLst/>
          </a:prstGeom>
          <a:noFill/>
        </p:spPr>
        <p:txBody>
          <a:bodyPr wrap="square"/>
          <a:lstStyle/>
          <a:p>
            <a:pPr algn="ctr">
              <a:defRPr sz="1700" b="0" i="0">
                <a:solidFill>
                  <a:srgbClr val="5A5A5A"/>
                </a:solidFill>
                <a:latin typeface="Trebuchet MS"/>
              </a:defRPr>
            </a:pPr>
            <a:r>
              <a:t>ML clustering on user-journey data to discover distinct behavioural segments</a:t>
            </a:r>
          </a:p>
        </p:txBody>
      </p:sp>
      <p:sp>
        <p:nvSpPr>
          <p:cNvPr id="8" name="Oval 7"/>
          <p:cNvSpPr/>
          <p:nvPr/>
        </p:nvSpPr>
        <p:spPr>
          <a:xfrm>
            <a:off x="5294376" y="2926080"/>
            <a:ext cx="822960" cy="822960"/>
          </a:xfrm>
          <a:prstGeom prst="ellipse">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94376" y="2962656"/>
            <a:ext cx="822960" cy="822960"/>
          </a:xfrm>
          <a:prstGeom prst="rect">
            <a:avLst/>
          </a:prstGeom>
          <a:noFill/>
        </p:spPr>
        <p:txBody>
          <a:bodyPr wrap="square"/>
          <a:lstStyle/>
          <a:p>
            <a:pPr algn="ctr">
              <a:defRPr sz="3200" b="1" i="0">
                <a:solidFill>
                  <a:srgbClr val="FFFFFF"/>
                </a:solidFill>
                <a:latin typeface="Trebuchet MS"/>
              </a:defRPr>
            </a:pPr>
            <a:r>
              <a:t>2</a:t>
            </a:r>
          </a:p>
        </p:txBody>
      </p:sp>
      <p:sp>
        <p:nvSpPr>
          <p:cNvPr id="10" name="TextBox 9"/>
          <p:cNvSpPr txBox="1"/>
          <p:nvPr/>
        </p:nvSpPr>
        <p:spPr>
          <a:xfrm>
            <a:off x="7205472" y="3108960"/>
            <a:ext cx="329184" cy="457200"/>
          </a:xfrm>
          <a:prstGeom prst="rect">
            <a:avLst/>
          </a:prstGeom>
          <a:noFill/>
        </p:spPr>
        <p:txBody>
          <a:bodyPr wrap="square"/>
          <a:lstStyle/>
          <a:p>
            <a:pPr algn="ctr">
              <a:defRPr sz="2800" b="0" i="0">
                <a:solidFill>
                  <a:srgbClr val="117996"/>
                </a:solidFill>
                <a:latin typeface="Trebuchet MS"/>
              </a:defRPr>
            </a:pPr>
            <a:r>
              <a:t>→</a:t>
            </a:r>
          </a:p>
        </p:txBody>
      </p:sp>
      <p:sp>
        <p:nvSpPr>
          <p:cNvPr id="11" name="TextBox 10"/>
          <p:cNvSpPr txBox="1"/>
          <p:nvPr/>
        </p:nvSpPr>
        <p:spPr>
          <a:xfrm>
            <a:off x="4242816" y="3931920"/>
            <a:ext cx="2926080" cy="457200"/>
          </a:xfrm>
          <a:prstGeom prst="rect">
            <a:avLst/>
          </a:prstGeom>
          <a:noFill/>
        </p:spPr>
        <p:txBody>
          <a:bodyPr wrap="square"/>
          <a:lstStyle/>
          <a:p>
            <a:pPr algn="ctr">
              <a:defRPr sz="2100" b="1" i="0">
                <a:solidFill>
                  <a:srgbClr val="000000"/>
                </a:solidFill>
                <a:latin typeface="Trebuchet MS"/>
              </a:defRPr>
            </a:pPr>
            <a:r>
              <a:t>Build AI Agents</a:t>
            </a:r>
          </a:p>
        </p:txBody>
      </p:sp>
      <p:sp>
        <p:nvSpPr>
          <p:cNvPr id="12" name="TextBox 11"/>
          <p:cNvSpPr txBox="1"/>
          <p:nvPr/>
        </p:nvSpPr>
        <p:spPr>
          <a:xfrm>
            <a:off x="4242816" y="4389120"/>
            <a:ext cx="2926080" cy="1188720"/>
          </a:xfrm>
          <a:prstGeom prst="rect">
            <a:avLst/>
          </a:prstGeom>
          <a:noFill/>
        </p:spPr>
        <p:txBody>
          <a:bodyPr wrap="square"/>
          <a:lstStyle/>
          <a:p>
            <a:pPr algn="ctr">
              <a:defRPr sz="1700" b="0" i="0">
                <a:solidFill>
                  <a:srgbClr val="5A5A5A"/>
                </a:solidFill>
                <a:latin typeface="Trebuchet MS"/>
              </a:defRPr>
            </a:pPr>
            <a:r>
              <a:t>Create thousands of AI agents — each representing a real persona — grounded in your data</a:t>
            </a:r>
          </a:p>
        </p:txBody>
      </p:sp>
      <p:sp>
        <p:nvSpPr>
          <p:cNvPr id="13" name="Oval 12"/>
          <p:cNvSpPr/>
          <p:nvPr/>
        </p:nvSpPr>
        <p:spPr>
          <a:xfrm>
            <a:off x="8622792" y="2926080"/>
            <a:ext cx="822960" cy="822960"/>
          </a:xfrm>
          <a:prstGeom prst="ellipse">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22792" y="2962656"/>
            <a:ext cx="822960" cy="822960"/>
          </a:xfrm>
          <a:prstGeom prst="rect">
            <a:avLst/>
          </a:prstGeom>
          <a:noFill/>
        </p:spPr>
        <p:txBody>
          <a:bodyPr wrap="square"/>
          <a:lstStyle/>
          <a:p>
            <a:pPr algn="ctr">
              <a:defRPr sz="3200" b="1" i="0">
                <a:solidFill>
                  <a:srgbClr val="FFFFFF"/>
                </a:solidFill>
                <a:latin typeface="Trebuchet MS"/>
              </a:defRPr>
            </a:pPr>
            <a:r>
              <a:t>3</a:t>
            </a:r>
          </a:p>
        </p:txBody>
      </p:sp>
      <p:sp>
        <p:nvSpPr>
          <p:cNvPr id="15" name="TextBox 14"/>
          <p:cNvSpPr txBox="1"/>
          <p:nvPr/>
        </p:nvSpPr>
        <p:spPr>
          <a:xfrm>
            <a:off x="10533888" y="3108960"/>
            <a:ext cx="329184" cy="457200"/>
          </a:xfrm>
          <a:prstGeom prst="rect">
            <a:avLst/>
          </a:prstGeom>
          <a:noFill/>
        </p:spPr>
        <p:txBody>
          <a:bodyPr wrap="square"/>
          <a:lstStyle/>
          <a:p>
            <a:pPr algn="ctr">
              <a:defRPr sz="2800" b="0" i="0">
                <a:solidFill>
                  <a:srgbClr val="117996"/>
                </a:solidFill>
                <a:latin typeface="Trebuchet MS"/>
              </a:defRPr>
            </a:pPr>
            <a:r>
              <a:t>→</a:t>
            </a:r>
          </a:p>
        </p:txBody>
      </p:sp>
      <p:sp>
        <p:nvSpPr>
          <p:cNvPr id="16" name="TextBox 15"/>
          <p:cNvSpPr txBox="1"/>
          <p:nvPr/>
        </p:nvSpPr>
        <p:spPr>
          <a:xfrm>
            <a:off x="7571232" y="3931920"/>
            <a:ext cx="2926080" cy="457200"/>
          </a:xfrm>
          <a:prstGeom prst="rect">
            <a:avLst/>
          </a:prstGeom>
          <a:noFill/>
        </p:spPr>
        <p:txBody>
          <a:bodyPr wrap="square"/>
          <a:lstStyle/>
          <a:p>
            <a:pPr algn="ctr">
              <a:defRPr sz="2100" b="1" i="0">
                <a:solidFill>
                  <a:srgbClr val="000000"/>
                </a:solidFill>
                <a:latin typeface="Trebuchet MS"/>
              </a:defRPr>
            </a:pPr>
            <a:r>
              <a:t>Calibrate</a:t>
            </a:r>
          </a:p>
        </p:txBody>
      </p:sp>
      <p:sp>
        <p:nvSpPr>
          <p:cNvPr id="17" name="TextBox 16"/>
          <p:cNvSpPr txBox="1"/>
          <p:nvPr/>
        </p:nvSpPr>
        <p:spPr>
          <a:xfrm>
            <a:off x="7571232" y="4389120"/>
            <a:ext cx="2926080" cy="1188720"/>
          </a:xfrm>
          <a:prstGeom prst="rect">
            <a:avLst/>
          </a:prstGeom>
          <a:noFill/>
        </p:spPr>
        <p:txBody>
          <a:bodyPr wrap="square"/>
          <a:lstStyle/>
          <a:p>
            <a:pPr algn="ctr">
              <a:defRPr sz="1700" b="0" i="0">
                <a:solidFill>
                  <a:srgbClr val="5A5A5A"/>
                </a:solidFill>
                <a:latin typeface="Trebuchet MS"/>
              </a:defRPr>
            </a:pPr>
            <a:r>
              <a:t>Tune agent behaviour until simulated actions match real conversion numbers from training data</a:t>
            </a:r>
          </a:p>
        </p:txBody>
      </p:sp>
      <p:sp>
        <p:nvSpPr>
          <p:cNvPr id="18" name="Oval 17"/>
          <p:cNvSpPr/>
          <p:nvPr/>
        </p:nvSpPr>
        <p:spPr>
          <a:xfrm>
            <a:off x="11951208" y="2926080"/>
            <a:ext cx="822960" cy="822960"/>
          </a:xfrm>
          <a:prstGeom prst="ellipse">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951208" y="2962656"/>
            <a:ext cx="822960" cy="822960"/>
          </a:xfrm>
          <a:prstGeom prst="rect">
            <a:avLst/>
          </a:prstGeom>
          <a:noFill/>
        </p:spPr>
        <p:txBody>
          <a:bodyPr wrap="square"/>
          <a:lstStyle/>
          <a:p>
            <a:pPr algn="ctr">
              <a:defRPr sz="3200" b="1" i="0">
                <a:solidFill>
                  <a:srgbClr val="FFFFFF"/>
                </a:solidFill>
                <a:latin typeface="Trebuchet MS"/>
              </a:defRPr>
            </a:pPr>
            <a:r>
              <a:t>4</a:t>
            </a:r>
          </a:p>
        </p:txBody>
      </p:sp>
      <p:sp>
        <p:nvSpPr>
          <p:cNvPr id="20" name="TextBox 19"/>
          <p:cNvSpPr txBox="1"/>
          <p:nvPr/>
        </p:nvSpPr>
        <p:spPr>
          <a:xfrm>
            <a:off x="13862304" y="3108960"/>
            <a:ext cx="329184" cy="457200"/>
          </a:xfrm>
          <a:prstGeom prst="rect">
            <a:avLst/>
          </a:prstGeom>
          <a:noFill/>
        </p:spPr>
        <p:txBody>
          <a:bodyPr wrap="square"/>
          <a:lstStyle/>
          <a:p>
            <a:pPr algn="ctr">
              <a:defRPr sz="2800" b="0" i="0">
                <a:solidFill>
                  <a:srgbClr val="117996"/>
                </a:solidFill>
                <a:latin typeface="Trebuchet MS"/>
              </a:defRPr>
            </a:pPr>
            <a:r>
              <a:t>→</a:t>
            </a:r>
          </a:p>
        </p:txBody>
      </p:sp>
      <p:sp>
        <p:nvSpPr>
          <p:cNvPr id="21" name="TextBox 20"/>
          <p:cNvSpPr txBox="1"/>
          <p:nvPr/>
        </p:nvSpPr>
        <p:spPr>
          <a:xfrm>
            <a:off x="10899648" y="3931920"/>
            <a:ext cx="2926080" cy="457200"/>
          </a:xfrm>
          <a:prstGeom prst="rect">
            <a:avLst/>
          </a:prstGeom>
          <a:noFill/>
        </p:spPr>
        <p:txBody>
          <a:bodyPr wrap="square"/>
          <a:lstStyle/>
          <a:p>
            <a:pPr algn="ctr">
              <a:defRPr sz="2100" b="1" i="0">
                <a:solidFill>
                  <a:srgbClr val="000000"/>
                </a:solidFill>
                <a:latin typeface="Trebuchet MS"/>
              </a:defRPr>
            </a:pPr>
            <a:r>
              <a:t>Simulate Campaigns</a:t>
            </a:r>
          </a:p>
        </p:txBody>
      </p:sp>
      <p:sp>
        <p:nvSpPr>
          <p:cNvPr id="22" name="TextBox 21"/>
          <p:cNvSpPr txBox="1"/>
          <p:nvPr/>
        </p:nvSpPr>
        <p:spPr>
          <a:xfrm>
            <a:off x="10899648" y="4389120"/>
            <a:ext cx="2926080" cy="1188720"/>
          </a:xfrm>
          <a:prstGeom prst="rect">
            <a:avLst/>
          </a:prstGeom>
          <a:noFill/>
        </p:spPr>
        <p:txBody>
          <a:bodyPr wrap="square"/>
          <a:lstStyle/>
          <a:p>
            <a:pPr algn="ctr">
              <a:defRPr sz="1700" b="0" i="0">
                <a:solidFill>
                  <a:srgbClr val="5A5A5A"/>
                </a:solidFill>
                <a:latin typeface="Trebuchet MS"/>
              </a:defRPr>
            </a:pPr>
            <a:r>
              <a:t>Show every persona each campaign variant and observe how reactions differ</a:t>
            </a:r>
          </a:p>
        </p:txBody>
      </p:sp>
      <p:sp>
        <p:nvSpPr>
          <p:cNvPr id="23" name="Oval 22"/>
          <p:cNvSpPr/>
          <p:nvPr/>
        </p:nvSpPr>
        <p:spPr>
          <a:xfrm>
            <a:off x="15279624" y="2926080"/>
            <a:ext cx="822960" cy="822960"/>
          </a:xfrm>
          <a:prstGeom prst="ellipse">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79624" y="2962656"/>
            <a:ext cx="822960" cy="822960"/>
          </a:xfrm>
          <a:prstGeom prst="rect">
            <a:avLst/>
          </a:prstGeom>
          <a:noFill/>
        </p:spPr>
        <p:txBody>
          <a:bodyPr wrap="square"/>
          <a:lstStyle/>
          <a:p>
            <a:pPr algn="ctr">
              <a:defRPr sz="3200" b="1" i="0">
                <a:solidFill>
                  <a:srgbClr val="FFFFFF"/>
                </a:solidFill>
                <a:latin typeface="Trebuchet MS"/>
              </a:defRPr>
            </a:pPr>
            <a:r>
              <a:t>5</a:t>
            </a:r>
          </a:p>
        </p:txBody>
      </p:sp>
      <p:sp>
        <p:nvSpPr>
          <p:cNvPr id="25" name="TextBox 24"/>
          <p:cNvSpPr txBox="1"/>
          <p:nvPr/>
        </p:nvSpPr>
        <p:spPr>
          <a:xfrm>
            <a:off x="14228064" y="3931920"/>
            <a:ext cx="2926080" cy="457200"/>
          </a:xfrm>
          <a:prstGeom prst="rect">
            <a:avLst/>
          </a:prstGeom>
          <a:noFill/>
        </p:spPr>
        <p:txBody>
          <a:bodyPr wrap="square"/>
          <a:lstStyle/>
          <a:p>
            <a:pPr algn="ctr">
              <a:defRPr sz="2100" b="1" i="0">
                <a:solidFill>
                  <a:srgbClr val="000000"/>
                </a:solidFill>
                <a:latin typeface="Trebuchet MS"/>
              </a:defRPr>
            </a:pPr>
            <a:r>
              <a:t>Validate &amp; Report</a:t>
            </a:r>
          </a:p>
        </p:txBody>
      </p:sp>
      <p:sp>
        <p:nvSpPr>
          <p:cNvPr id="26" name="TextBox 25"/>
          <p:cNvSpPr txBox="1"/>
          <p:nvPr/>
        </p:nvSpPr>
        <p:spPr>
          <a:xfrm>
            <a:off x="14228064" y="4389120"/>
            <a:ext cx="2926080" cy="1188720"/>
          </a:xfrm>
          <a:prstGeom prst="rect">
            <a:avLst/>
          </a:prstGeom>
          <a:noFill/>
        </p:spPr>
        <p:txBody>
          <a:bodyPr wrap="square"/>
          <a:lstStyle/>
          <a:p>
            <a:pPr algn="ctr">
              <a:defRPr sz="1700" b="0" i="0">
                <a:solidFill>
                  <a:srgbClr val="5A5A5A"/>
                </a:solidFill>
                <a:latin typeface="Trebuchet MS"/>
              </a:defRPr>
            </a:pPr>
            <a:r>
              <a:t>Cross-check predictions against held-out past-campaign data, then rank recommendations</a:t>
            </a:r>
          </a:p>
        </p:txBody>
      </p:sp>
      <p:sp>
        <p:nvSpPr>
          <p:cNvPr id="27" name="TextBox 26"/>
          <p:cNvSpPr txBox="1"/>
          <p:nvPr/>
        </p:nvSpPr>
        <p:spPr>
          <a:xfrm>
            <a:off x="914400" y="5760720"/>
            <a:ext cx="14630400" cy="548640"/>
          </a:xfrm>
          <a:prstGeom prst="rect">
            <a:avLst/>
          </a:prstGeom>
          <a:noFill/>
        </p:spPr>
        <p:txBody>
          <a:bodyPr wrap="square"/>
          <a:lstStyle/>
          <a:p>
            <a:pPr algn="l">
              <a:defRPr sz="2800" b="1" i="0">
                <a:solidFill>
                  <a:srgbClr val="000000"/>
                </a:solidFill>
                <a:latin typeface="Trebuchet MS"/>
              </a:defRPr>
            </a:pPr>
            <a:r>
              <a:t>What data we need — two distinct sets</a:t>
            </a:r>
          </a:p>
        </p:txBody>
      </p:sp>
      <p:sp>
        <p:nvSpPr>
          <p:cNvPr id="28" name="Rounded Rectangle 27"/>
          <p:cNvSpPr/>
          <p:nvPr/>
        </p:nvSpPr>
        <p:spPr>
          <a:xfrm>
            <a:off x="914400" y="6492240"/>
            <a:ext cx="7863840" cy="329184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 y="6675120"/>
            <a:ext cx="7132320" cy="457200"/>
          </a:xfrm>
          <a:prstGeom prst="rect">
            <a:avLst/>
          </a:prstGeom>
          <a:noFill/>
        </p:spPr>
        <p:txBody>
          <a:bodyPr wrap="square"/>
          <a:lstStyle/>
          <a:p>
            <a:pPr algn="l">
              <a:defRPr sz="2000" b="1" i="0">
                <a:solidFill>
                  <a:srgbClr val="117996"/>
                </a:solidFill>
                <a:latin typeface="Trebuchet MS"/>
              </a:defRPr>
            </a:pPr>
            <a:r>
              <a:t>PRE-CAMPAIGN DATA (Training)</a:t>
            </a:r>
          </a:p>
        </p:txBody>
      </p:sp>
      <p:sp>
        <p:nvSpPr>
          <p:cNvPr id="30" name="TextBox 29"/>
          <p:cNvSpPr txBox="1"/>
          <p:nvPr/>
        </p:nvSpPr>
        <p:spPr>
          <a:xfrm>
            <a:off x="1280160" y="7223760"/>
            <a:ext cx="7132320" cy="2377440"/>
          </a:xfrm>
          <a:prstGeom prst="rect">
            <a:avLst/>
          </a:prstGeom>
          <a:noFill/>
        </p:spPr>
        <p:txBody>
          <a:bodyPr wrap="square"/>
          <a:lstStyle/>
          <a:p>
            <a:r>
              <a:rPr sz="1800" b="1" i="0">
                <a:solidFill>
                  <a:srgbClr val="000000"/>
                </a:solidFill>
                <a:latin typeface="Trebuchet MS"/>
              </a:rPr>
              <a:t>Anonymised user-journey data </a:t>
            </a:r>
            <a:r>
              <a:rPr sz="1800" b="0" i="0">
                <a:solidFill>
                  <a:srgbClr val="5A5A5A"/>
                </a:solidFill>
                <a:latin typeface="Trebuchet MS"/>
              </a:rPr>
              <a:t>with one row per website visit (~45 columns) — pages seen, time spent, cart actions, checkout behaviour. No personal identities.</a:t>
            </a:r>
          </a:p>
          <a:p/>
          <a:p>
            <a:r>
              <a:rPr sz="1800" b="1" i="0">
                <a:solidFill>
                  <a:srgbClr val="000000"/>
                </a:solidFill>
                <a:latin typeface="Trebuchet MS"/>
              </a:rPr>
              <a:t>Volume: </a:t>
            </a:r>
            <a:r>
              <a:rPr sz="1800" b="0" i="0">
                <a:solidFill>
                  <a:srgbClr val="5A5A5A"/>
                </a:solidFill>
                <a:latin typeface="Trebuchet MS"/>
              </a:rPr>
              <a:t>15,000+ visits over 3+ months, randomly sampled across product categories and weekday/weekend.</a:t>
            </a:r>
          </a:p>
        </p:txBody>
      </p:sp>
      <p:sp>
        <p:nvSpPr>
          <p:cNvPr id="31" name="Rounded Rectangle 30"/>
          <p:cNvSpPr/>
          <p:nvPr/>
        </p:nvSpPr>
        <p:spPr>
          <a:xfrm>
            <a:off x="9326880" y="6492240"/>
            <a:ext cx="8046720" cy="329184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0" y="6675120"/>
            <a:ext cx="7315200" cy="457200"/>
          </a:xfrm>
          <a:prstGeom prst="rect">
            <a:avLst/>
          </a:prstGeom>
          <a:noFill/>
        </p:spPr>
        <p:txBody>
          <a:bodyPr wrap="square"/>
          <a:lstStyle/>
          <a:p>
            <a:pPr algn="l">
              <a:defRPr sz="2000" b="1" i="0">
                <a:solidFill>
                  <a:srgbClr val="003D78"/>
                </a:solidFill>
                <a:latin typeface="Trebuchet MS"/>
              </a:defRPr>
            </a:pPr>
            <a:r>
              <a:t>PAST CAMPAIGN DATA (Validation)</a:t>
            </a:r>
          </a:p>
        </p:txBody>
      </p:sp>
      <p:sp>
        <p:nvSpPr>
          <p:cNvPr id="33" name="TextBox 32"/>
          <p:cNvSpPr txBox="1"/>
          <p:nvPr/>
        </p:nvSpPr>
        <p:spPr>
          <a:xfrm>
            <a:off x="9692640" y="7223760"/>
            <a:ext cx="7315200" cy="2377440"/>
          </a:xfrm>
          <a:prstGeom prst="rect">
            <a:avLst/>
          </a:prstGeom>
          <a:noFill/>
        </p:spPr>
        <p:txBody>
          <a:bodyPr wrap="square"/>
          <a:lstStyle/>
          <a:p>
            <a:r>
              <a:rPr sz="1800" b="1" i="0">
                <a:solidFill>
                  <a:srgbClr val="000000"/>
                </a:solidFill>
                <a:latin typeface="Trebuchet MS"/>
              </a:rPr>
              <a:t>2–3 past campaign results: </a:t>
            </a:r>
            <a:r>
              <a:rPr sz="1800" b="0" i="0">
                <a:solidFill>
                  <a:srgbClr val="5A5A5A"/>
                </a:solidFill>
                <a:latin typeface="Trebuchet MS"/>
              </a:rPr>
              <a:t>who saw a campaign vs who didn’t, and what happened (converted, abandoned, returned). This proves the simulation matches reality.</a:t>
            </a:r>
          </a:p>
          <a:p/>
          <a:p>
            <a:r>
              <a:rPr sz="1800" b="1" i="0">
                <a:solidFill>
                  <a:srgbClr val="000000"/>
                </a:solidFill>
                <a:latin typeface="Trebuchet MS"/>
              </a:rPr>
              <a:t>If suitable SRH campaigns are unavailable, </a:t>
            </a:r>
            <a:r>
              <a:rPr sz="1800" b="0" i="0">
                <a:solidFill>
                  <a:srgbClr val="5A5A5A"/>
                </a:solidFill>
                <a:latin typeface="Trebuchet MS"/>
              </a:rPr>
              <a:t>we can design the initial campaign’s data capture in the format needed for future validation.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latin typeface="Trebuchet MS"/>
              </a:defRPr>
            </a:pPr>
            <a:r>
              <a:t>The variables we request — 45 fields across the journey</a:t>
            </a:r>
          </a:p>
        </p:txBody>
      </p:sp>
      <p:sp>
        <p:nvSpPr>
          <p:cNvPr id="3" name="TextBox 2"/>
          <p:cNvSpPr txBox="1"/>
          <p:nvPr/>
        </p:nvSpPr>
        <p:spPr>
          <a:xfrm>
            <a:off x="914400" y="457200"/>
            <a:ext cx="16459200" cy="457200"/>
          </a:xfrm>
          <a:prstGeom prst="rect">
            <a:avLst/>
          </a:prstGeom>
          <a:noFill/>
        </p:spPr>
        <p:txBody>
          <a:bodyPr wrap="square"/>
          <a:lstStyle/>
          <a:p>
            <a:pPr algn="l">
              <a:defRPr sz="1800" b="0" i="0">
                <a:solidFill>
                  <a:srgbClr val="5A5A5A"/>
                </a:solidFill>
                <a:latin typeface="Trebuchet MS"/>
              </a:defRPr>
            </a:pPr>
            <a:r>
              <a:t>DATA REQUEST · Fields are colour-coded by priority. Blue = essential for simulation. Amber = helpful for richer agent behaviour.</a:t>
            </a:r>
          </a:p>
        </p:txBody>
      </p:sp>
      <p:sp>
        <p:nvSpPr>
          <p:cNvPr id="4" name="Rounded Rectangle 3"/>
          <p:cNvSpPr/>
          <p:nvPr/>
        </p:nvSpPr>
        <p:spPr>
          <a:xfrm>
            <a:off x="914400" y="2834640"/>
            <a:ext cx="1828800" cy="402336"/>
          </a:xfrm>
          <a:prstGeom prst="roundRect">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834640"/>
            <a:ext cx="1828800" cy="402336"/>
          </a:xfrm>
          <a:prstGeom prst="rect">
            <a:avLst/>
          </a:prstGeom>
          <a:noFill/>
        </p:spPr>
        <p:txBody>
          <a:bodyPr wrap="square"/>
          <a:lstStyle/>
          <a:p>
            <a:pPr algn="ctr">
              <a:defRPr sz="1600" b="1" i="0">
                <a:solidFill>
                  <a:srgbClr val="FFFFFF"/>
                </a:solidFill>
                <a:latin typeface="Trebuchet MS"/>
              </a:defRPr>
            </a:pPr>
            <a:r>
              <a:t>Essential · 25</a:t>
            </a:r>
          </a:p>
        </p:txBody>
      </p:sp>
      <p:sp>
        <p:nvSpPr>
          <p:cNvPr id="6" name="Rounded Rectangle 5"/>
          <p:cNvSpPr/>
          <p:nvPr/>
        </p:nvSpPr>
        <p:spPr>
          <a:xfrm>
            <a:off x="3017520" y="2834640"/>
            <a:ext cx="1645920" cy="402336"/>
          </a:xfrm>
          <a:prstGeom prst="roundRect">
            <a:avLst/>
          </a:prstGeom>
          <a:solidFill>
            <a:srgbClr val="F4B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2834640"/>
            <a:ext cx="1645920" cy="402336"/>
          </a:xfrm>
          <a:prstGeom prst="rect">
            <a:avLst/>
          </a:prstGeom>
          <a:noFill/>
        </p:spPr>
        <p:txBody>
          <a:bodyPr wrap="square"/>
          <a:lstStyle/>
          <a:p>
            <a:pPr algn="ctr">
              <a:defRPr sz="1600" b="1" i="0">
                <a:solidFill>
                  <a:srgbClr val="FFFFFF"/>
                </a:solidFill>
                <a:latin typeface="Trebuchet MS"/>
              </a:defRPr>
            </a:pPr>
            <a:r>
              <a:t>Helpful · 20</a:t>
            </a:r>
          </a:p>
        </p:txBody>
      </p:sp>
      <p:sp>
        <p:nvSpPr>
          <p:cNvPr id="8" name="Rectangle 7"/>
          <p:cNvSpPr/>
          <p:nvPr/>
        </p:nvSpPr>
        <p:spPr>
          <a:xfrm>
            <a:off x="914400" y="3474720"/>
            <a:ext cx="2194560" cy="768096"/>
          </a:xfrm>
          <a:prstGeom prst="rect">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20"/>
            <a:ext cx="2194560" cy="768096"/>
          </a:xfrm>
          <a:prstGeom prst="rect">
            <a:avLst/>
          </a:prstGeom>
          <a:noFill/>
        </p:spPr>
        <p:txBody>
          <a:bodyPr wrap="square"/>
          <a:lstStyle/>
          <a:p>
            <a:pPr algn="ctr">
              <a:defRPr sz="1700" b="1" i="0">
                <a:solidFill>
                  <a:srgbClr val="FFFFFF"/>
                </a:solidFill>
                <a:latin typeface="Trebuchet MS"/>
              </a:defRPr>
            </a:pPr>
            <a:r>
              <a:t>Stage</a:t>
            </a:r>
          </a:p>
        </p:txBody>
      </p:sp>
      <p:sp>
        <p:nvSpPr>
          <p:cNvPr id="10" name="Rectangle 9"/>
          <p:cNvSpPr/>
          <p:nvPr/>
        </p:nvSpPr>
        <p:spPr>
          <a:xfrm>
            <a:off x="3108960" y="3474720"/>
            <a:ext cx="7498079" cy="768096"/>
          </a:xfrm>
          <a:prstGeom prst="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3474720"/>
            <a:ext cx="7498079" cy="768096"/>
          </a:xfrm>
          <a:prstGeom prst="rect">
            <a:avLst/>
          </a:prstGeom>
          <a:noFill/>
        </p:spPr>
        <p:txBody>
          <a:bodyPr wrap="square"/>
          <a:lstStyle/>
          <a:p>
            <a:pPr algn="ctr">
              <a:defRPr sz="1700" b="1" i="0">
                <a:solidFill>
                  <a:srgbClr val="FFFFFF"/>
                </a:solidFill>
                <a:latin typeface="Trebuchet MS"/>
              </a:defRPr>
            </a:pPr>
            <a:r>
              <a:t>Essential Fields</a:t>
            </a:r>
          </a:p>
        </p:txBody>
      </p:sp>
      <p:sp>
        <p:nvSpPr>
          <p:cNvPr id="12" name="Rectangle 11"/>
          <p:cNvSpPr/>
          <p:nvPr/>
        </p:nvSpPr>
        <p:spPr>
          <a:xfrm>
            <a:off x="10607040" y="3474720"/>
            <a:ext cx="6675120" cy="768096"/>
          </a:xfrm>
          <a:prstGeom prst="rect">
            <a:avLst/>
          </a:prstGeom>
          <a:solidFill>
            <a:srgbClr val="F4B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0" y="3474720"/>
            <a:ext cx="6675120" cy="768096"/>
          </a:xfrm>
          <a:prstGeom prst="rect">
            <a:avLst/>
          </a:prstGeom>
          <a:noFill/>
        </p:spPr>
        <p:txBody>
          <a:bodyPr wrap="square"/>
          <a:lstStyle/>
          <a:p>
            <a:pPr algn="ctr">
              <a:defRPr sz="1700" b="1" i="0">
                <a:solidFill>
                  <a:srgbClr val="FFFFFF"/>
                </a:solidFill>
                <a:latin typeface="Trebuchet MS"/>
              </a:defRPr>
            </a:pPr>
            <a:r>
              <a:t>Helpful Fields</a:t>
            </a:r>
          </a:p>
        </p:txBody>
      </p:sp>
      <p:sp>
        <p:nvSpPr>
          <p:cNvPr id="14" name="Rectangle 13"/>
          <p:cNvSpPr/>
          <p:nvPr/>
        </p:nvSpPr>
        <p:spPr>
          <a:xfrm>
            <a:off x="914400" y="4242816"/>
            <a:ext cx="6400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42816"/>
            <a:ext cx="640080" cy="768096"/>
          </a:xfrm>
          <a:prstGeom prst="rect">
            <a:avLst/>
          </a:prstGeom>
          <a:noFill/>
        </p:spPr>
        <p:txBody>
          <a:bodyPr wrap="square"/>
          <a:lstStyle/>
          <a:p>
            <a:pPr algn="ctr">
              <a:defRPr sz="1600" b="1" i="0">
                <a:solidFill>
                  <a:srgbClr val="003D78"/>
                </a:solidFill>
                <a:latin typeface="Trebuchet MS"/>
              </a:defRPr>
            </a:pPr>
            <a:r>
              <a:t>1</a:t>
            </a:r>
          </a:p>
        </p:txBody>
      </p:sp>
      <p:sp>
        <p:nvSpPr>
          <p:cNvPr id="16" name="Rectangle 15"/>
          <p:cNvSpPr/>
          <p:nvPr/>
        </p:nvSpPr>
        <p:spPr>
          <a:xfrm>
            <a:off x="1554480" y="4242816"/>
            <a:ext cx="15544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54480" y="4242816"/>
            <a:ext cx="1554480" cy="768096"/>
          </a:xfrm>
          <a:prstGeom prst="rect">
            <a:avLst/>
          </a:prstGeom>
          <a:noFill/>
        </p:spPr>
        <p:txBody>
          <a:bodyPr wrap="square"/>
          <a:lstStyle/>
          <a:p>
            <a:pPr algn="ctr">
              <a:defRPr sz="1600" b="1" i="0">
                <a:solidFill>
                  <a:srgbClr val="000000"/>
                </a:solidFill>
                <a:latin typeface="Trebuchet MS"/>
              </a:defRPr>
            </a:pPr>
            <a:r>
              <a:t>Arrival</a:t>
            </a:r>
          </a:p>
        </p:txBody>
      </p:sp>
      <p:sp>
        <p:nvSpPr>
          <p:cNvPr id="18" name="Rectangle 17"/>
          <p:cNvSpPr/>
          <p:nvPr/>
        </p:nvSpPr>
        <p:spPr>
          <a:xfrm>
            <a:off x="3108960" y="4242816"/>
            <a:ext cx="7498079"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55264" y="4242816"/>
            <a:ext cx="7205471" cy="768096"/>
          </a:xfrm>
          <a:prstGeom prst="rect">
            <a:avLst/>
          </a:prstGeom>
          <a:noFill/>
        </p:spPr>
        <p:txBody>
          <a:bodyPr wrap="square"/>
          <a:lstStyle/>
          <a:p>
            <a:pPr algn="l">
              <a:defRPr sz="1500" b="0" i="0">
                <a:solidFill>
                  <a:srgbClr val="000000"/>
                </a:solidFill>
                <a:latin typeface="Trebuchet MS"/>
              </a:defRPr>
            </a:pPr>
            <a:r>
              <a:t>Session ID · Timestamp · Referrer source · Device type · First visit?</a:t>
            </a:r>
          </a:p>
        </p:txBody>
      </p:sp>
      <p:sp>
        <p:nvSpPr>
          <p:cNvPr id="20" name="Rectangle 19"/>
          <p:cNvSpPr/>
          <p:nvPr/>
        </p:nvSpPr>
        <p:spPr>
          <a:xfrm>
            <a:off x="10607040" y="4242816"/>
            <a:ext cx="667512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53344" y="4242816"/>
            <a:ext cx="6382512" cy="768096"/>
          </a:xfrm>
          <a:prstGeom prst="rect">
            <a:avLst/>
          </a:prstGeom>
          <a:noFill/>
        </p:spPr>
        <p:txBody>
          <a:bodyPr wrap="square"/>
          <a:lstStyle/>
          <a:p>
            <a:pPr algn="l">
              <a:defRPr sz="1500" b="0" i="0">
                <a:solidFill>
                  <a:srgbClr val="5A5A5A"/>
                </a:solidFill>
                <a:latin typeface="Trebuchet MS"/>
              </a:defRPr>
            </a:pPr>
            <a:r>
              <a:t>City tier · Browser type · Incognito signal</a:t>
            </a:r>
          </a:p>
        </p:txBody>
      </p:sp>
      <p:sp>
        <p:nvSpPr>
          <p:cNvPr id="22" name="Rectangle 21"/>
          <p:cNvSpPr/>
          <p:nvPr/>
        </p:nvSpPr>
        <p:spPr>
          <a:xfrm>
            <a:off x="914400" y="5010912"/>
            <a:ext cx="64008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010912"/>
            <a:ext cx="640080" cy="768096"/>
          </a:xfrm>
          <a:prstGeom prst="rect">
            <a:avLst/>
          </a:prstGeom>
          <a:noFill/>
        </p:spPr>
        <p:txBody>
          <a:bodyPr wrap="square"/>
          <a:lstStyle/>
          <a:p>
            <a:pPr algn="ctr">
              <a:defRPr sz="1600" b="1" i="0">
                <a:solidFill>
                  <a:srgbClr val="003D78"/>
                </a:solidFill>
                <a:latin typeface="Trebuchet MS"/>
              </a:defRPr>
            </a:pPr>
            <a:r>
              <a:t>2</a:t>
            </a:r>
          </a:p>
        </p:txBody>
      </p:sp>
      <p:sp>
        <p:nvSpPr>
          <p:cNvPr id="24" name="Rectangle 23"/>
          <p:cNvSpPr/>
          <p:nvPr/>
        </p:nvSpPr>
        <p:spPr>
          <a:xfrm>
            <a:off x="1554480" y="5010912"/>
            <a:ext cx="155448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54480" y="5010912"/>
            <a:ext cx="1554480" cy="768096"/>
          </a:xfrm>
          <a:prstGeom prst="rect">
            <a:avLst/>
          </a:prstGeom>
          <a:noFill/>
        </p:spPr>
        <p:txBody>
          <a:bodyPr wrap="square"/>
          <a:lstStyle/>
          <a:p>
            <a:pPr algn="ctr">
              <a:defRPr sz="1600" b="1" i="0">
                <a:solidFill>
                  <a:srgbClr val="000000"/>
                </a:solidFill>
                <a:latin typeface="Trebuchet MS"/>
              </a:defRPr>
            </a:pPr>
            <a:r>
              <a:t>Browse</a:t>
            </a:r>
          </a:p>
        </p:txBody>
      </p:sp>
      <p:sp>
        <p:nvSpPr>
          <p:cNvPr id="26" name="Rectangle 25"/>
          <p:cNvSpPr/>
          <p:nvPr/>
        </p:nvSpPr>
        <p:spPr>
          <a:xfrm>
            <a:off x="3108960" y="5010912"/>
            <a:ext cx="7498079"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55264" y="5010912"/>
            <a:ext cx="7205471" cy="768096"/>
          </a:xfrm>
          <a:prstGeom prst="rect">
            <a:avLst/>
          </a:prstGeom>
          <a:noFill/>
        </p:spPr>
        <p:txBody>
          <a:bodyPr wrap="square"/>
          <a:lstStyle/>
          <a:p>
            <a:pPr algn="l">
              <a:defRPr sz="1500" b="0" i="0">
                <a:solidFill>
                  <a:srgbClr val="000000"/>
                </a:solidFill>
                <a:latin typeface="Trebuchet MS"/>
              </a:defRPr>
            </a:pPr>
            <a:r>
              <a:t>Page sequence · Primary category · Time on page · Scroll depth</a:t>
            </a:r>
          </a:p>
        </p:txBody>
      </p:sp>
      <p:sp>
        <p:nvSpPr>
          <p:cNvPr id="28" name="Rectangle 27"/>
          <p:cNvSpPr/>
          <p:nvPr/>
        </p:nvSpPr>
        <p:spPr>
          <a:xfrm>
            <a:off x="10607040" y="5010912"/>
            <a:ext cx="667512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53344" y="5010912"/>
            <a:ext cx="6382512" cy="768096"/>
          </a:xfrm>
          <a:prstGeom prst="rect">
            <a:avLst/>
          </a:prstGeom>
          <a:noFill/>
        </p:spPr>
        <p:txBody>
          <a:bodyPr wrap="square"/>
          <a:lstStyle/>
          <a:p>
            <a:pPr algn="l">
              <a:defRPr sz="1500" b="0" i="0">
                <a:solidFill>
                  <a:srgbClr val="5A5A5A"/>
                </a:solidFill>
                <a:latin typeface="Trebuchet MS"/>
              </a:defRPr>
            </a:pPr>
            <a:r>
              <a:t>Internal search queries · Category switching</a:t>
            </a:r>
          </a:p>
        </p:txBody>
      </p:sp>
      <p:sp>
        <p:nvSpPr>
          <p:cNvPr id="30" name="Rectangle 29"/>
          <p:cNvSpPr/>
          <p:nvPr/>
        </p:nvSpPr>
        <p:spPr>
          <a:xfrm>
            <a:off x="914400" y="5779007"/>
            <a:ext cx="6400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79007"/>
            <a:ext cx="640080" cy="768096"/>
          </a:xfrm>
          <a:prstGeom prst="rect">
            <a:avLst/>
          </a:prstGeom>
          <a:noFill/>
        </p:spPr>
        <p:txBody>
          <a:bodyPr wrap="square"/>
          <a:lstStyle/>
          <a:p>
            <a:pPr algn="ctr">
              <a:defRPr sz="1600" b="1" i="0">
                <a:solidFill>
                  <a:srgbClr val="003D78"/>
                </a:solidFill>
                <a:latin typeface="Trebuchet MS"/>
              </a:defRPr>
            </a:pPr>
            <a:r>
              <a:t>3</a:t>
            </a:r>
          </a:p>
        </p:txBody>
      </p:sp>
      <p:sp>
        <p:nvSpPr>
          <p:cNvPr id="32" name="Rectangle 31"/>
          <p:cNvSpPr/>
          <p:nvPr/>
        </p:nvSpPr>
        <p:spPr>
          <a:xfrm>
            <a:off x="1554480" y="5779007"/>
            <a:ext cx="15544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54480" y="5779007"/>
            <a:ext cx="1554480" cy="768096"/>
          </a:xfrm>
          <a:prstGeom prst="rect">
            <a:avLst/>
          </a:prstGeom>
          <a:noFill/>
        </p:spPr>
        <p:txBody>
          <a:bodyPr wrap="square"/>
          <a:lstStyle/>
          <a:p>
            <a:pPr algn="ctr">
              <a:defRPr sz="1600" b="1" i="0">
                <a:solidFill>
                  <a:srgbClr val="000000"/>
                </a:solidFill>
                <a:latin typeface="Trebuchet MS"/>
              </a:defRPr>
            </a:pPr>
            <a:r>
              <a:t>Product view</a:t>
            </a:r>
          </a:p>
        </p:txBody>
      </p:sp>
      <p:sp>
        <p:nvSpPr>
          <p:cNvPr id="34" name="Rectangle 33"/>
          <p:cNvSpPr/>
          <p:nvPr/>
        </p:nvSpPr>
        <p:spPr>
          <a:xfrm>
            <a:off x="3108960" y="5779007"/>
            <a:ext cx="7498079"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55264" y="5779007"/>
            <a:ext cx="7205471" cy="768096"/>
          </a:xfrm>
          <a:prstGeom prst="rect">
            <a:avLst/>
          </a:prstGeom>
          <a:noFill/>
        </p:spPr>
        <p:txBody>
          <a:bodyPr wrap="square"/>
          <a:lstStyle/>
          <a:p>
            <a:pPr algn="l">
              <a:defRPr sz="1500" b="0" i="0">
                <a:solidFill>
                  <a:srgbClr val="000000"/>
                </a:solidFill>
                <a:latin typeface="Trebuchet MS"/>
              </a:defRPr>
            </a:pPr>
            <a:r>
              <a:t>Product ID · Product category · Time on product page · Products viewed/session</a:t>
            </a:r>
          </a:p>
        </p:txBody>
      </p:sp>
      <p:sp>
        <p:nvSpPr>
          <p:cNvPr id="36" name="Rectangle 35"/>
          <p:cNvSpPr/>
          <p:nvPr/>
        </p:nvSpPr>
        <p:spPr>
          <a:xfrm>
            <a:off x="10607040" y="5779007"/>
            <a:ext cx="667512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53344" y="5779007"/>
            <a:ext cx="6382512" cy="768096"/>
          </a:xfrm>
          <a:prstGeom prst="rect">
            <a:avLst/>
          </a:prstGeom>
          <a:noFill/>
        </p:spPr>
        <p:txBody>
          <a:bodyPr wrap="square"/>
          <a:lstStyle/>
          <a:p>
            <a:pPr algn="l">
              <a:defRPr sz="1500" b="0" i="0">
                <a:solidFill>
                  <a:srgbClr val="5A5A5A"/>
                </a:solidFill>
                <a:latin typeface="Trebuchet MS"/>
              </a:defRPr>
            </a:pPr>
            <a:r>
              <a:t>Reviews viewed · FAQ viewed · Price displayed · Image gallery engagement</a:t>
            </a:r>
          </a:p>
        </p:txBody>
      </p:sp>
      <p:sp>
        <p:nvSpPr>
          <p:cNvPr id="38" name="Rectangle 37"/>
          <p:cNvSpPr/>
          <p:nvPr/>
        </p:nvSpPr>
        <p:spPr>
          <a:xfrm>
            <a:off x="914400" y="6547104"/>
            <a:ext cx="64008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6547104"/>
            <a:ext cx="640080" cy="768096"/>
          </a:xfrm>
          <a:prstGeom prst="rect">
            <a:avLst/>
          </a:prstGeom>
          <a:noFill/>
        </p:spPr>
        <p:txBody>
          <a:bodyPr wrap="square"/>
          <a:lstStyle/>
          <a:p>
            <a:pPr algn="ctr">
              <a:defRPr sz="1600" b="1" i="0">
                <a:solidFill>
                  <a:srgbClr val="003D78"/>
                </a:solidFill>
                <a:latin typeface="Trebuchet MS"/>
              </a:defRPr>
            </a:pPr>
            <a:r>
              <a:t>4</a:t>
            </a:r>
          </a:p>
        </p:txBody>
      </p:sp>
      <p:sp>
        <p:nvSpPr>
          <p:cNvPr id="40" name="Rectangle 39"/>
          <p:cNvSpPr/>
          <p:nvPr/>
        </p:nvSpPr>
        <p:spPr>
          <a:xfrm>
            <a:off x="1554480" y="6547104"/>
            <a:ext cx="155448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54480" y="6547104"/>
            <a:ext cx="1554480" cy="768096"/>
          </a:xfrm>
          <a:prstGeom prst="rect">
            <a:avLst/>
          </a:prstGeom>
          <a:noFill/>
        </p:spPr>
        <p:txBody>
          <a:bodyPr wrap="square"/>
          <a:lstStyle/>
          <a:p>
            <a:pPr algn="ctr">
              <a:defRPr sz="1600" b="1" i="0">
                <a:solidFill>
                  <a:srgbClr val="000000"/>
                </a:solidFill>
                <a:latin typeface="Trebuchet MS"/>
              </a:defRPr>
            </a:pPr>
            <a:r>
              <a:t>Cart</a:t>
            </a:r>
          </a:p>
        </p:txBody>
      </p:sp>
      <p:sp>
        <p:nvSpPr>
          <p:cNvPr id="42" name="Rectangle 41"/>
          <p:cNvSpPr/>
          <p:nvPr/>
        </p:nvSpPr>
        <p:spPr>
          <a:xfrm>
            <a:off x="3108960" y="6547104"/>
            <a:ext cx="7498079"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55264" y="6547104"/>
            <a:ext cx="7205471" cy="768096"/>
          </a:xfrm>
          <a:prstGeom prst="rect">
            <a:avLst/>
          </a:prstGeom>
          <a:noFill/>
        </p:spPr>
        <p:txBody>
          <a:bodyPr wrap="square"/>
          <a:lstStyle/>
          <a:p>
            <a:pPr algn="l">
              <a:defRPr sz="1500" b="0" i="0">
                <a:solidFill>
                  <a:srgbClr val="000000"/>
                </a:solidFill>
                <a:latin typeface="Trebuchet MS"/>
              </a:defRPr>
            </a:pPr>
            <a:r>
              <a:t>Added to cart? · Cart items · Cart value</a:t>
            </a:r>
          </a:p>
        </p:txBody>
      </p:sp>
      <p:sp>
        <p:nvSpPr>
          <p:cNvPr id="44" name="Rectangle 43"/>
          <p:cNvSpPr/>
          <p:nvPr/>
        </p:nvSpPr>
        <p:spPr>
          <a:xfrm>
            <a:off x="10607040" y="6547104"/>
            <a:ext cx="667512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53344" y="6547104"/>
            <a:ext cx="6382512" cy="768096"/>
          </a:xfrm>
          <a:prstGeom prst="rect">
            <a:avLst/>
          </a:prstGeom>
          <a:noFill/>
        </p:spPr>
        <p:txBody>
          <a:bodyPr wrap="square"/>
          <a:lstStyle/>
          <a:p>
            <a:pPr algn="l">
              <a:defRPr sz="1500" b="0" i="0">
                <a:solidFill>
                  <a:srgbClr val="5A5A5A"/>
                </a:solidFill>
                <a:latin typeface="Trebuchet MS"/>
              </a:defRPr>
            </a:pPr>
            <a:r>
              <a:t>Items removed from cart · Time to add to cart · Coupon applied</a:t>
            </a:r>
          </a:p>
        </p:txBody>
      </p:sp>
      <p:sp>
        <p:nvSpPr>
          <p:cNvPr id="46" name="Rectangle 45"/>
          <p:cNvSpPr/>
          <p:nvPr/>
        </p:nvSpPr>
        <p:spPr>
          <a:xfrm>
            <a:off x="914400" y="7315200"/>
            <a:ext cx="6400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7315200"/>
            <a:ext cx="640080" cy="768096"/>
          </a:xfrm>
          <a:prstGeom prst="rect">
            <a:avLst/>
          </a:prstGeom>
          <a:noFill/>
        </p:spPr>
        <p:txBody>
          <a:bodyPr wrap="square"/>
          <a:lstStyle/>
          <a:p>
            <a:pPr algn="ctr">
              <a:defRPr sz="1600" b="1" i="0">
                <a:solidFill>
                  <a:srgbClr val="003D78"/>
                </a:solidFill>
                <a:latin typeface="Trebuchet MS"/>
              </a:defRPr>
            </a:pPr>
            <a:r>
              <a:t>5</a:t>
            </a:r>
          </a:p>
        </p:txBody>
      </p:sp>
      <p:sp>
        <p:nvSpPr>
          <p:cNvPr id="48" name="Rectangle 47"/>
          <p:cNvSpPr/>
          <p:nvPr/>
        </p:nvSpPr>
        <p:spPr>
          <a:xfrm>
            <a:off x="1554480" y="7315200"/>
            <a:ext cx="15544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554480" y="7315200"/>
            <a:ext cx="1554480" cy="768096"/>
          </a:xfrm>
          <a:prstGeom prst="rect">
            <a:avLst/>
          </a:prstGeom>
          <a:noFill/>
        </p:spPr>
        <p:txBody>
          <a:bodyPr wrap="square"/>
          <a:lstStyle/>
          <a:p>
            <a:pPr algn="ctr">
              <a:defRPr sz="1600" b="1" i="0">
                <a:solidFill>
                  <a:srgbClr val="000000"/>
                </a:solidFill>
                <a:latin typeface="Trebuchet MS"/>
              </a:defRPr>
            </a:pPr>
            <a:r>
              <a:t>Account</a:t>
            </a:r>
          </a:p>
        </p:txBody>
      </p:sp>
      <p:sp>
        <p:nvSpPr>
          <p:cNvPr id="50" name="Rectangle 49"/>
          <p:cNvSpPr/>
          <p:nvPr/>
        </p:nvSpPr>
        <p:spPr>
          <a:xfrm>
            <a:off x="3108960" y="7315200"/>
            <a:ext cx="7498079"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55264" y="7315200"/>
            <a:ext cx="7205471" cy="768096"/>
          </a:xfrm>
          <a:prstGeom prst="rect">
            <a:avLst/>
          </a:prstGeom>
          <a:noFill/>
        </p:spPr>
        <p:txBody>
          <a:bodyPr wrap="square"/>
          <a:lstStyle/>
          <a:p>
            <a:pPr algn="l">
              <a:defRPr sz="1500" b="0" i="0">
                <a:solidFill>
                  <a:srgbClr val="000000"/>
                </a:solidFill>
                <a:latin typeface="Trebuchet MS"/>
              </a:defRPr>
            </a:pPr>
            <a:r>
              <a:t>Reached account step? · Account action · Dropped at account?</a:t>
            </a:r>
          </a:p>
        </p:txBody>
      </p:sp>
      <p:sp>
        <p:nvSpPr>
          <p:cNvPr id="52" name="Rectangle 51"/>
          <p:cNvSpPr/>
          <p:nvPr/>
        </p:nvSpPr>
        <p:spPr>
          <a:xfrm>
            <a:off x="10607040" y="7315200"/>
            <a:ext cx="667512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753344" y="7315200"/>
            <a:ext cx="6382512" cy="768096"/>
          </a:xfrm>
          <a:prstGeom prst="rect">
            <a:avLst/>
          </a:prstGeom>
          <a:noFill/>
        </p:spPr>
        <p:txBody>
          <a:bodyPr wrap="square"/>
          <a:lstStyle/>
          <a:p>
            <a:pPr algn="l">
              <a:defRPr sz="1500" b="0" i="0">
                <a:solidFill>
                  <a:srgbClr val="5A5A5A"/>
                </a:solidFill>
                <a:latin typeface="Trebuchet MS"/>
              </a:defRPr>
            </a:pPr>
            <a:r>
              <a:t>Age band · Gender</a:t>
            </a:r>
          </a:p>
        </p:txBody>
      </p:sp>
      <p:sp>
        <p:nvSpPr>
          <p:cNvPr id="54" name="Rectangle 53"/>
          <p:cNvSpPr/>
          <p:nvPr/>
        </p:nvSpPr>
        <p:spPr>
          <a:xfrm>
            <a:off x="914400" y="8083296"/>
            <a:ext cx="64008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8083296"/>
            <a:ext cx="640080" cy="768096"/>
          </a:xfrm>
          <a:prstGeom prst="rect">
            <a:avLst/>
          </a:prstGeom>
          <a:noFill/>
        </p:spPr>
        <p:txBody>
          <a:bodyPr wrap="square"/>
          <a:lstStyle/>
          <a:p>
            <a:pPr algn="ctr">
              <a:defRPr sz="1600" b="1" i="0">
                <a:solidFill>
                  <a:srgbClr val="003D78"/>
                </a:solidFill>
                <a:latin typeface="Trebuchet MS"/>
              </a:defRPr>
            </a:pPr>
            <a:r>
              <a:t>6</a:t>
            </a:r>
          </a:p>
        </p:txBody>
      </p:sp>
      <p:sp>
        <p:nvSpPr>
          <p:cNvPr id="56" name="Rectangle 55"/>
          <p:cNvSpPr/>
          <p:nvPr/>
        </p:nvSpPr>
        <p:spPr>
          <a:xfrm>
            <a:off x="1554480" y="8083296"/>
            <a:ext cx="155448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54480" y="8083296"/>
            <a:ext cx="1554480" cy="768096"/>
          </a:xfrm>
          <a:prstGeom prst="rect">
            <a:avLst/>
          </a:prstGeom>
          <a:noFill/>
        </p:spPr>
        <p:txBody>
          <a:bodyPr wrap="square"/>
          <a:lstStyle/>
          <a:p>
            <a:pPr algn="ctr">
              <a:defRPr sz="1600" b="1" i="0">
                <a:solidFill>
                  <a:srgbClr val="000000"/>
                </a:solidFill>
                <a:latin typeface="Trebuchet MS"/>
              </a:defRPr>
            </a:pPr>
            <a:r>
              <a:t>Checkout</a:t>
            </a:r>
          </a:p>
        </p:txBody>
      </p:sp>
      <p:sp>
        <p:nvSpPr>
          <p:cNvPr id="58" name="Rectangle 57"/>
          <p:cNvSpPr/>
          <p:nvPr/>
        </p:nvSpPr>
        <p:spPr>
          <a:xfrm>
            <a:off x="3108960" y="8083296"/>
            <a:ext cx="7498079"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55264" y="8083296"/>
            <a:ext cx="7205471" cy="768096"/>
          </a:xfrm>
          <a:prstGeom prst="rect">
            <a:avLst/>
          </a:prstGeom>
          <a:noFill/>
        </p:spPr>
        <p:txBody>
          <a:bodyPr wrap="square"/>
          <a:lstStyle/>
          <a:p>
            <a:pPr algn="l">
              <a:defRPr sz="1500" b="0" i="0">
                <a:solidFill>
                  <a:srgbClr val="000000"/>
                </a:solidFill>
                <a:latin typeface="Trebuchet MS"/>
              </a:defRPr>
            </a:pPr>
            <a:r>
              <a:t>Reached checkout? · Address completed? · Payment method</a:t>
            </a:r>
          </a:p>
        </p:txBody>
      </p:sp>
      <p:sp>
        <p:nvSpPr>
          <p:cNvPr id="60" name="Rectangle 59"/>
          <p:cNvSpPr/>
          <p:nvPr/>
        </p:nvSpPr>
        <p:spPr>
          <a:xfrm>
            <a:off x="10607040" y="8083296"/>
            <a:ext cx="667512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753344" y="8083296"/>
            <a:ext cx="6382512" cy="768096"/>
          </a:xfrm>
          <a:prstGeom prst="rect">
            <a:avLst/>
          </a:prstGeom>
          <a:noFill/>
        </p:spPr>
        <p:txBody>
          <a:bodyPr wrap="square"/>
          <a:lstStyle/>
          <a:p>
            <a:pPr algn="l">
              <a:defRPr sz="1500" b="0" i="0">
                <a:solidFill>
                  <a:srgbClr val="5A5A5A"/>
                </a:solidFill>
                <a:latin typeface="Trebuchet MS"/>
              </a:defRPr>
            </a:pPr>
            <a:r>
              <a:t>Dropped at checkout? · Shipping option · Time at payment</a:t>
            </a:r>
          </a:p>
        </p:txBody>
      </p:sp>
      <p:sp>
        <p:nvSpPr>
          <p:cNvPr id="62" name="Rectangle 61"/>
          <p:cNvSpPr/>
          <p:nvPr/>
        </p:nvSpPr>
        <p:spPr>
          <a:xfrm>
            <a:off x="914400" y="8851392"/>
            <a:ext cx="6400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4400" y="8851392"/>
            <a:ext cx="640080" cy="768096"/>
          </a:xfrm>
          <a:prstGeom prst="rect">
            <a:avLst/>
          </a:prstGeom>
          <a:noFill/>
        </p:spPr>
        <p:txBody>
          <a:bodyPr wrap="square"/>
          <a:lstStyle/>
          <a:p>
            <a:pPr algn="ctr">
              <a:defRPr sz="1600" b="1" i="0">
                <a:solidFill>
                  <a:srgbClr val="003D78"/>
                </a:solidFill>
                <a:latin typeface="Trebuchet MS"/>
              </a:defRPr>
            </a:pPr>
            <a:r>
              <a:t>7</a:t>
            </a:r>
          </a:p>
        </p:txBody>
      </p:sp>
      <p:sp>
        <p:nvSpPr>
          <p:cNvPr id="64" name="Rectangle 63"/>
          <p:cNvSpPr/>
          <p:nvPr/>
        </p:nvSpPr>
        <p:spPr>
          <a:xfrm>
            <a:off x="1554480" y="8851392"/>
            <a:ext cx="155448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54480" y="8851392"/>
            <a:ext cx="1554480" cy="768096"/>
          </a:xfrm>
          <a:prstGeom prst="rect">
            <a:avLst/>
          </a:prstGeom>
          <a:noFill/>
        </p:spPr>
        <p:txBody>
          <a:bodyPr wrap="square"/>
          <a:lstStyle/>
          <a:p>
            <a:pPr algn="ctr">
              <a:defRPr sz="1600" b="1" i="0">
                <a:solidFill>
                  <a:srgbClr val="000000"/>
                </a:solidFill>
                <a:latin typeface="Trebuchet MS"/>
              </a:defRPr>
            </a:pPr>
            <a:r>
              <a:t>Outcome</a:t>
            </a:r>
          </a:p>
        </p:txBody>
      </p:sp>
      <p:sp>
        <p:nvSpPr>
          <p:cNvPr id="66" name="Rectangle 65"/>
          <p:cNvSpPr/>
          <p:nvPr/>
        </p:nvSpPr>
        <p:spPr>
          <a:xfrm>
            <a:off x="3108960" y="8851392"/>
            <a:ext cx="7498079"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55264" y="8851392"/>
            <a:ext cx="7205471" cy="768096"/>
          </a:xfrm>
          <a:prstGeom prst="rect">
            <a:avLst/>
          </a:prstGeom>
          <a:noFill/>
        </p:spPr>
        <p:txBody>
          <a:bodyPr wrap="square"/>
          <a:lstStyle/>
          <a:p>
            <a:pPr algn="l">
              <a:defRPr sz="1500" b="0" i="0">
                <a:solidFill>
                  <a:srgbClr val="000000"/>
                </a:solidFill>
                <a:latin typeface="Trebuchet MS"/>
              </a:defRPr>
            </a:pPr>
            <a:r>
              <a:t>Converted? · Order value · Abandoned stage</a:t>
            </a:r>
          </a:p>
        </p:txBody>
      </p:sp>
      <p:sp>
        <p:nvSpPr>
          <p:cNvPr id="68" name="Rectangle 67"/>
          <p:cNvSpPr/>
          <p:nvPr/>
        </p:nvSpPr>
        <p:spPr>
          <a:xfrm>
            <a:off x="10607040" y="8851392"/>
            <a:ext cx="6675120" cy="768096"/>
          </a:xfrm>
          <a:prstGeom prst="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753344" y="8851392"/>
            <a:ext cx="6382512" cy="768096"/>
          </a:xfrm>
          <a:prstGeom prst="rect">
            <a:avLst/>
          </a:prstGeom>
          <a:noFill/>
        </p:spPr>
        <p:txBody>
          <a:bodyPr wrap="square"/>
          <a:lstStyle/>
          <a:p>
            <a:pPr algn="l">
              <a:defRPr sz="1500" b="0" i="0">
                <a:solidFill>
                  <a:srgbClr val="5A5A5A"/>
                </a:solidFill>
                <a:latin typeface="Trebuchet MS"/>
              </a:defRPr>
            </a:pPr>
            <a:r>
              <a:t>Returned in 7 days · Returned in 30 days · Repeat purchase</a:t>
            </a:r>
          </a:p>
        </p:txBody>
      </p:sp>
      <p:sp>
        <p:nvSpPr>
          <p:cNvPr id="70" name="TextBox 69"/>
          <p:cNvSpPr txBox="1"/>
          <p:nvPr/>
        </p:nvSpPr>
        <p:spPr>
          <a:xfrm>
            <a:off x="914400" y="9893808"/>
            <a:ext cx="16459200" cy="731520"/>
          </a:xfrm>
          <a:prstGeom prst="rect">
            <a:avLst/>
          </a:prstGeom>
          <a:noFill/>
        </p:spPr>
        <p:txBody>
          <a:bodyPr wrap="square"/>
          <a:lstStyle/>
          <a:p>
            <a:pPr algn="l">
              <a:defRPr sz="1600" b="0" i="1">
                <a:solidFill>
                  <a:srgbClr val="8C8C8C"/>
                </a:solidFill>
                <a:latin typeface="Trebuchet MS"/>
              </a:defRPr>
            </a:pPr>
            <a:r>
              <a:t>Training data must cover all possible user journey pathways — both breadth (diverse user profiles, entry points) and depth (full end-to-end journeys with decision branches) to model realistic simulations.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latin typeface="Trebuchet MS"/>
              </a:defRPr>
            </a:pPr>
            <a:r>
              <a:t>What you get back — and the evidence it works</a:t>
            </a:r>
          </a:p>
        </p:txBody>
      </p:sp>
      <p:sp>
        <p:nvSpPr>
          <p:cNvPr id="3" name="Rounded Rectangle 2"/>
          <p:cNvSpPr/>
          <p:nvPr/>
        </p:nvSpPr>
        <p:spPr>
          <a:xfrm>
            <a:off x="914400" y="2926080"/>
            <a:ext cx="3931920" cy="283464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3145536"/>
            <a:ext cx="3383279" cy="640080"/>
          </a:xfrm>
          <a:prstGeom prst="rect">
            <a:avLst/>
          </a:prstGeom>
          <a:noFill/>
        </p:spPr>
        <p:txBody>
          <a:bodyPr wrap="square"/>
          <a:lstStyle/>
          <a:p>
            <a:pPr algn="l">
              <a:defRPr sz="2000" b="1" i="0">
                <a:solidFill>
                  <a:srgbClr val="003D78"/>
                </a:solidFill>
                <a:latin typeface="Trebuchet MS"/>
              </a:defRPr>
            </a:pPr>
            <a:r>
              <a:t>Campaign-Persona Match Grid</a:t>
            </a:r>
          </a:p>
        </p:txBody>
      </p:sp>
      <p:sp>
        <p:nvSpPr>
          <p:cNvPr id="5" name="TextBox 4"/>
          <p:cNvSpPr txBox="1"/>
          <p:nvPr/>
        </p:nvSpPr>
        <p:spPr>
          <a:xfrm>
            <a:off x="1188720" y="3840480"/>
            <a:ext cx="3383279" cy="1737360"/>
          </a:xfrm>
          <a:prstGeom prst="rect">
            <a:avLst/>
          </a:prstGeom>
          <a:noFill/>
        </p:spPr>
        <p:txBody>
          <a:bodyPr wrap="square"/>
          <a:lstStyle/>
          <a:p>
            <a:pPr algn="l">
              <a:defRPr sz="1700" b="0" i="0">
                <a:solidFill>
                  <a:srgbClr val="5A5A5A"/>
                </a:solidFill>
                <a:latin typeface="Trebuchet MS"/>
              </a:defRPr>
            </a:pPr>
            <a:r>
              <a:t>How each campaign variant moves each persona — target the right message at the right people, not broadcast one campaign to all.</a:t>
            </a:r>
          </a:p>
        </p:txBody>
      </p:sp>
      <p:sp>
        <p:nvSpPr>
          <p:cNvPr id="6" name="Rounded Rectangle 5"/>
          <p:cNvSpPr/>
          <p:nvPr/>
        </p:nvSpPr>
        <p:spPr>
          <a:xfrm>
            <a:off x="5175504" y="2926080"/>
            <a:ext cx="3931920" cy="283464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49824" y="3145536"/>
            <a:ext cx="3383279" cy="640080"/>
          </a:xfrm>
          <a:prstGeom prst="rect">
            <a:avLst/>
          </a:prstGeom>
          <a:noFill/>
        </p:spPr>
        <p:txBody>
          <a:bodyPr wrap="square"/>
          <a:lstStyle/>
          <a:p>
            <a:pPr algn="l">
              <a:defRPr sz="2000" b="1" i="0">
                <a:solidFill>
                  <a:srgbClr val="003D78"/>
                </a:solidFill>
                <a:latin typeface="Trebuchet MS"/>
              </a:defRPr>
            </a:pPr>
            <a:r>
              <a:t>Ranked Recommendations by ROI</a:t>
            </a:r>
          </a:p>
        </p:txBody>
      </p:sp>
      <p:sp>
        <p:nvSpPr>
          <p:cNvPr id="8" name="TextBox 7"/>
          <p:cNvSpPr txBox="1"/>
          <p:nvPr/>
        </p:nvSpPr>
        <p:spPr>
          <a:xfrm>
            <a:off x="5449824" y="3840480"/>
            <a:ext cx="3383279" cy="1737360"/>
          </a:xfrm>
          <a:prstGeom prst="rect">
            <a:avLst/>
          </a:prstGeom>
          <a:noFill/>
        </p:spPr>
        <p:txBody>
          <a:bodyPr wrap="square"/>
          <a:lstStyle/>
          <a:p>
            <a:pPr algn="l">
              <a:defRPr sz="1700" b="0" i="0">
                <a:solidFill>
                  <a:srgbClr val="5A5A5A"/>
                </a:solidFill>
                <a:latin typeface="Trebuchet MS"/>
              </a:defRPr>
            </a:pPr>
            <a:r>
              <a:t>Campaigns ranked by predicted conversion lift, with placement guidance for each funnel stage — spend concentrated where it earns the most.</a:t>
            </a:r>
          </a:p>
        </p:txBody>
      </p:sp>
      <p:sp>
        <p:nvSpPr>
          <p:cNvPr id="9" name="Rounded Rectangle 8"/>
          <p:cNvSpPr/>
          <p:nvPr/>
        </p:nvSpPr>
        <p:spPr>
          <a:xfrm>
            <a:off x="9436608" y="2926080"/>
            <a:ext cx="3931920" cy="283464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10928" y="3145536"/>
            <a:ext cx="3383279" cy="640080"/>
          </a:xfrm>
          <a:prstGeom prst="rect">
            <a:avLst/>
          </a:prstGeom>
          <a:noFill/>
        </p:spPr>
        <p:txBody>
          <a:bodyPr wrap="square"/>
          <a:lstStyle/>
          <a:p>
            <a:pPr algn="l">
              <a:defRPr sz="2000" b="1" i="0">
                <a:solidFill>
                  <a:srgbClr val="003D78"/>
                </a:solidFill>
                <a:latin typeface="Trebuchet MS"/>
              </a:defRPr>
            </a:pPr>
            <a:r>
              <a:t>Funnel-Stage Campaign Map</a:t>
            </a:r>
          </a:p>
        </p:txBody>
      </p:sp>
      <p:sp>
        <p:nvSpPr>
          <p:cNvPr id="11" name="TextBox 10"/>
          <p:cNvSpPr txBox="1"/>
          <p:nvPr/>
        </p:nvSpPr>
        <p:spPr>
          <a:xfrm>
            <a:off x="9710928" y="3840480"/>
            <a:ext cx="3383279" cy="1737360"/>
          </a:xfrm>
          <a:prstGeom prst="rect">
            <a:avLst/>
          </a:prstGeom>
          <a:noFill/>
        </p:spPr>
        <p:txBody>
          <a:bodyPr wrap="square"/>
          <a:lstStyle/>
          <a:p>
            <a:pPr algn="l">
              <a:defRPr sz="1700" b="0" i="0">
                <a:solidFill>
                  <a:srgbClr val="5A5A5A"/>
                </a:solidFill>
                <a:latin typeface="Trebuchet MS"/>
              </a:defRPr>
            </a:pPr>
            <a:r>
              <a:t>From landing to cart to checkout — a map showing which campaign intervention unblocks which step. Eliminates guesswork on timing.</a:t>
            </a:r>
          </a:p>
        </p:txBody>
      </p:sp>
      <p:sp>
        <p:nvSpPr>
          <p:cNvPr id="12" name="Rounded Rectangle 11"/>
          <p:cNvSpPr/>
          <p:nvPr/>
        </p:nvSpPr>
        <p:spPr>
          <a:xfrm>
            <a:off x="13697712" y="2926080"/>
            <a:ext cx="3931920" cy="2834640"/>
          </a:xfrm>
          <a:prstGeom prst="roundRect">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72032" y="3145536"/>
            <a:ext cx="3383279" cy="640080"/>
          </a:xfrm>
          <a:prstGeom prst="rect">
            <a:avLst/>
          </a:prstGeom>
          <a:noFill/>
        </p:spPr>
        <p:txBody>
          <a:bodyPr wrap="square"/>
          <a:lstStyle/>
          <a:p>
            <a:pPr algn="l">
              <a:defRPr sz="2000" b="1" i="0">
                <a:solidFill>
                  <a:srgbClr val="003D78"/>
                </a:solidFill>
                <a:latin typeface="Trebuchet MS"/>
              </a:defRPr>
            </a:pPr>
            <a:r>
              <a:t>Plain-Language Customer Reasoning</a:t>
            </a:r>
          </a:p>
        </p:txBody>
      </p:sp>
      <p:sp>
        <p:nvSpPr>
          <p:cNvPr id="14" name="TextBox 13"/>
          <p:cNvSpPr txBox="1"/>
          <p:nvPr/>
        </p:nvSpPr>
        <p:spPr>
          <a:xfrm>
            <a:off x="13972032" y="3840480"/>
            <a:ext cx="3383279" cy="1737360"/>
          </a:xfrm>
          <a:prstGeom prst="rect">
            <a:avLst/>
          </a:prstGeom>
          <a:noFill/>
        </p:spPr>
        <p:txBody>
          <a:bodyPr wrap="square"/>
          <a:lstStyle/>
          <a:p>
            <a:pPr algn="l">
              <a:defRPr sz="1700" b="0" i="0">
                <a:solidFill>
                  <a:srgbClr val="5A5A5A"/>
                </a:solidFill>
                <a:latin typeface="Trebuchet MS"/>
              </a:defRPr>
            </a:pPr>
            <a:r>
              <a:t>Each AI agent explains why it did or did not respond to a campaign — actionable "why" behind the numbers for your strategy teams.</a:t>
            </a:r>
          </a:p>
        </p:txBody>
      </p:sp>
      <p:sp>
        <p:nvSpPr>
          <p:cNvPr id="15" name="TextBox 14"/>
          <p:cNvSpPr txBox="1"/>
          <p:nvPr/>
        </p:nvSpPr>
        <p:spPr>
          <a:xfrm>
            <a:off x="914400" y="6309360"/>
            <a:ext cx="14630400" cy="548640"/>
          </a:xfrm>
          <a:prstGeom prst="rect">
            <a:avLst/>
          </a:prstGeom>
          <a:noFill/>
        </p:spPr>
        <p:txBody>
          <a:bodyPr wrap="square"/>
          <a:lstStyle/>
          <a:p>
            <a:pPr algn="l">
              <a:defRPr sz="2600" b="1" i="0">
                <a:solidFill>
                  <a:srgbClr val="003D78"/>
                </a:solidFill>
                <a:latin typeface="Trebuchet MS"/>
              </a:defRPr>
            </a:pPr>
            <a:r>
              <a:t>Real-world evidence: AI-powered campaign simulations deliver results</a:t>
            </a:r>
          </a:p>
        </p:txBody>
      </p:sp>
      <p:sp>
        <p:nvSpPr>
          <p:cNvPr id="16" name="Rounded Rectangle 15"/>
          <p:cNvSpPr/>
          <p:nvPr/>
        </p:nvSpPr>
        <p:spPr>
          <a:xfrm>
            <a:off x="914400" y="6949440"/>
            <a:ext cx="5120640" cy="219456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7040880"/>
            <a:ext cx="5120640" cy="731520"/>
          </a:xfrm>
          <a:prstGeom prst="rect">
            <a:avLst/>
          </a:prstGeom>
          <a:noFill/>
        </p:spPr>
        <p:txBody>
          <a:bodyPr wrap="square"/>
          <a:lstStyle/>
          <a:p>
            <a:pPr algn="ctr">
              <a:defRPr sz="6000" b="1" i="0">
                <a:solidFill>
                  <a:srgbClr val="FFFFFF"/>
                </a:solidFill>
                <a:latin typeface="Trebuchet MS"/>
              </a:defRPr>
            </a:pPr>
            <a:r>
              <a:t>60%</a:t>
            </a:r>
          </a:p>
        </p:txBody>
      </p:sp>
      <p:sp>
        <p:nvSpPr>
          <p:cNvPr id="18" name="TextBox 17"/>
          <p:cNvSpPr txBox="1"/>
          <p:nvPr/>
        </p:nvSpPr>
        <p:spPr>
          <a:xfrm>
            <a:off x="1188720" y="7827264"/>
            <a:ext cx="4572000" cy="1188719"/>
          </a:xfrm>
          <a:prstGeom prst="rect">
            <a:avLst/>
          </a:prstGeom>
          <a:noFill/>
        </p:spPr>
        <p:txBody>
          <a:bodyPr wrap="square"/>
          <a:lstStyle/>
          <a:p>
            <a:pPr algn="ctr">
              <a:defRPr sz="1700" b="0" i="0">
                <a:solidFill>
                  <a:srgbClr val="6EDBCD"/>
                </a:solidFill>
                <a:latin typeface="Trebuchet MS"/>
              </a:defRPr>
            </a:pPr>
            <a:r>
              <a:t>reduction in A/B testing costs with synthetic audience pre-testing campaigns (2025 industry benchmarks)</a:t>
            </a:r>
          </a:p>
        </p:txBody>
      </p:sp>
      <p:sp>
        <p:nvSpPr>
          <p:cNvPr id="19" name="Rounded Rectangle 18"/>
          <p:cNvSpPr/>
          <p:nvPr/>
        </p:nvSpPr>
        <p:spPr>
          <a:xfrm>
            <a:off x="6492240" y="6949440"/>
            <a:ext cx="5120640" cy="2194560"/>
          </a:xfrm>
          <a:prstGeom prst="roundRect">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7040880"/>
            <a:ext cx="5120640" cy="731520"/>
          </a:xfrm>
          <a:prstGeom prst="rect">
            <a:avLst/>
          </a:prstGeom>
          <a:noFill/>
        </p:spPr>
        <p:txBody>
          <a:bodyPr wrap="square"/>
          <a:lstStyle/>
          <a:p>
            <a:pPr algn="ctr">
              <a:defRPr sz="6000" b="1" i="0">
                <a:solidFill>
                  <a:srgbClr val="FFFFFF"/>
                </a:solidFill>
                <a:latin typeface="Trebuchet MS"/>
              </a:defRPr>
            </a:pPr>
            <a:r>
              <a:t>5–15%</a:t>
            </a:r>
          </a:p>
        </p:txBody>
      </p:sp>
      <p:sp>
        <p:nvSpPr>
          <p:cNvPr id="21" name="TextBox 20"/>
          <p:cNvSpPr txBox="1"/>
          <p:nvPr/>
        </p:nvSpPr>
        <p:spPr>
          <a:xfrm>
            <a:off x="6766559" y="7827264"/>
            <a:ext cx="4572000" cy="1188719"/>
          </a:xfrm>
          <a:prstGeom prst="rect">
            <a:avLst/>
          </a:prstGeom>
          <a:noFill/>
        </p:spPr>
        <p:txBody>
          <a:bodyPr wrap="square"/>
          <a:lstStyle/>
          <a:p>
            <a:pPr algn="ctr">
              <a:defRPr sz="1700" b="0" i="0">
                <a:solidFill>
                  <a:srgbClr val="6EDBCD"/>
                </a:solidFill>
                <a:latin typeface="Trebuchet MS"/>
              </a:defRPr>
            </a:pPr>
            <a:r>
              <a:t>revenue increase from AI-driven personalisation (McKinsey), with 10–30% improvement in marketing ROI</a:t>
            </a:r>
          </a:p>
        </p:txBody>
      </p:sp>
      <p:sp>
        <p:nvSpPr>
          <p:cNvPr id="22" name="Rounded Rectangle 21"/>
          <p:cNvSpPr/>
          <p:nvPr/>
        </p:nvSpPr>
        <p:spPr>
          <a:xfrm>
            <a:off x="12070080" y="6949440"/>
            <a:ext cx="5120640" cy="2194560"/>
          </a:xfrm>
          <a:prstGeom prst="roundRect">
            <a:avLst/>
          </a:prstGeom>
          <a:solidFill>
            <a:srgbClr val="117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70080" y="7040880"/>
            <a:ext cx="5120640" cy="731520"/>
          </a:xfrm>
          <a:prstGeom prst="rect">
            <a:avLst/>
          </a:prstGeom>
          <a:noFill/>
        </p:spPr>
        <p:txBody>
          <a:bodyPr wrap="square"/>
          <a:lstStyle/>
          <a:p>
            <a:pPr algn="ctr">
              <a:defRPr sz="6000" b="1" i="0">
                <a:solidFill>
                  <a:srgbClr val="FFFFFF"/>
                </a:solidFill>
                <a:latin typeface="Trebuchet MS"/>
              </a:defRPr>
            </a:pPr>
            <a:r>
              <a:t>89%</a:t>
            </a:r>
          </a:p>
        </p:txBody>
      </p:sp>
      <p:sp>
        <p:nvSpPr>
          <p:cNvPr id="24" name="TextBox 23"/>
          <p:cNvSpPr txBox="1"/>
          <p:nvPr/>
        </p:nvSpPr>
        <p:spPr>
          <a:xfrm>
            <a:off x="12344400" y="7827264"/>
            <a:ext cx="4572000" cy="1188719"/>
          </a:xfrm>
          <a:prstGeom prst="rect">
            <a:avLst/>
          </a:prstGeom>
          <a:noFill/>
        </p:spPr>
        <p:txBody>
          <a:bodyPr wrap="square"/>
          <a:lstStyle/>
          <a:p>
            <a:pPr algn="ctr">
              <a:defRPr sz="1700" b="0" i="0">
                <a:solidFill>
                  <a:srgbClr val="6EDBCD"/>
                </a:solidFill>
                <a:latin typeface="Trebuchet MS"/>
              </a:defRPr>
            </a:pPr>
            <a:r>
              <a:t>increase in purchases from behaviour-focused personalisation (Dynamic Yield / Build.com case study)</a:t>
            </a:r>
          </a:p>
        </p:txBody>
      </p:sp>
      <p:sp>
        <p:nvSpPr>
          <p:cNvPr id="25" name="Rounded Rectangle 24"/>
          <p:cNvSpPr/>
          <p:nvPr/>
        </p:nvSpPr>
        <p:spPr>
          <a:xfrm>
            <a:off x="914400" y="9418320"/>
            <a:ext cx="16459200" cy="548640"/>
          </a:xfrm>
          <a:prstGeom prst="roundRect">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9418320"/>
            <a:ext cx="16459200" cy="548640"/>
          </a:xfrm>
          <a:prstGeom prst="rect">
            <a:avLst/>
          </a:prstGeom>
          <a:noFill/>
        </p:spPr>
        <p:txBody>
          <a:bodyPr wrap="square"/>
          <a:lstStyle/>
          <a:p>
            <a:pPr algn="ctr">
              <a:defRPr sz="1600" b="0" i="0">
                <a:solidFill>
                  <a:srgbClr val="FFFFFF"/>
                </a:solidFill>
                <a:latin typeface="Trebuchet MS"/>
              </a:defRPr>
            </a:pPr>
            <a:r>
              <a:t>ILLUSTRATIVE RESULT    Privacy assurance +22%  ·  Doctor Q&amp;A widget +19%  ·  Discreet packaging pledge +18%  average conversion lift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4000" b="1">
                <a:solidFill>
                  <a:srgbClr val="FFFFFF"/>
                </a:solidFill>
                <a:latin typeface="Trebuchet MS"/>
              </a:rPr>
              <a:t>Let’s build this together</a:t>
            </a:r>
          </a:p>
          <a:p>
            <a:r>
              <a:rPr sz="2000">
                <a:solidFill>
                  <a:srgbClr val="6EDBCD"/>
                </a:solidFill>
                <a:latin typeface="Trebuchet MS"/>
              </a:rPr>
              <a:t>A partnership where both sides gain</a:t>
            </a:r>
          </a:p>
          <a:p>
            <a:pPr>
              <a:spcBef>
                <a:spcPts val="2400"/>
              </a:spcBef>
            </a:pPr>
            <a:r>
              <a:rPr sz="1600">
                <a:solidFill>
                  <a:srgbClr val="FFFFFF"/>
                </a:solidFill>
                <a:latin typeface="Trebuchet MS"/>
              </a:rPr>
              <a:t>1. You share  —  Anonymised journey data + past campaign results (fully privacy-safe)</a:t>
            </a:r>
          </a:p>
          <a:p>
            <a:pPr>
              <a:spcBef>
                <a:spcPts val="1200"/>
              </a:spcBef>
            </a:pPr>
            <a:r>
              <a:rPr sz="1600">
                <a:solidFill>
                  <a:srgbClr val="FFFFFF"/>
                </a:solidFill>
                <a:latin typeface="Trebuchet MS"/>
              </a:rPr>
              <a:t>2. We build  —  AI agents calibrated to your real customer base</a:t>
            </a:r>
          </a:p>
          <a:p>
            <a:pPr>
              <a:spcBef>
                <a:spcPts val="1200"/>
              </a:spcBef>
            </a:pPr>
            <a:r>
              <a:rPr sz="1600">
                <a:solidFill>
                  <a:srgbClr val="FFFFFF"/>
                </a:solidFill>
                <a:latin typeface="Trebuchet MS"/>
              </a:rPr>
              <a:t>3. You gain  —  A simulation engine that predicts campaign impact before launch — saving money, increasing sales, and reducing guesswork for every future campaign</a:t>
            </a:r>
          </a:p>
        </p:txBody>
      </p:sp>
    </p:spTree>
  </p:cSld>
  <p:clrMapOvr>
    <a:masterClrMapping/>
  </p:clrMapOvr>
</p:sld>
</file>

<file path=ppt/theme/theme1.xml><?xml version="1.0" encoding="utf-8"?>
<a:theme xmlns:a="http://schemas.openxmlformats.org/drawingml/2006/main" name="Template A">
  <a:themeElements>
    <a:clrScheme name="CHAI">
      <a:dk1>
        <a:srgbClr val="000000"/>
      </a:dk1>
      <a:lt1>
        <a:srgbClr val="FFFFFF"/>
      </a:lt1>
      <a:dk2>
        <a:srgbClr val="003E78"/>
      </a:dk2>
      <a:lt2>
        <a:srgbClr val="D5E7EF"/>
      </a:lt2>
      <a:accent1>
        <a:srgbClr val="003D78"/>
      </a:accent1>
      <a:accent2>
        <a:srgbClr val="117996"/>
      </a:accent2>
      <a:accent3>
        <a:srgbClr val="6EDBCD"/>
      </a:accent3>
      <a:accent4>
        <a:srgbClr val="1ED47F"/>
      </a:accent4>
      <a:accent5>
        <a:srgbClr val="F4B71B"/>
      </a:accent5>
      <a:accent6>
        <a:srgbClr val="7C1220"/>
      </a:accent6>
      <a:hlink>
        <a:srgbClr val="117996"/>
      </a:hlink>
      <a:folHlink>
        <a:srgbClr val="117996"/>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A theme" id="{0BE10032-7B2A-7548-BEDD-77026BC6C3A2}" vid="{599C107D-6ACD-6042-A51A-D39D812532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D04797-E610-42E4-B3F4-CE3CCA02906B}">
  <we:reference id="WA200010001" version="1.0.0.1" store="Omex" storeType="OMEX"/>
  <we:alternateReferences>
    <we:reference id="WA200010001" version="1.0.0.1" store="WA200010001" storeType="OMEX"/>
  </we:alternateReferences>
  <we:properties>
    <we:property name="claude.fileId" value="&quot;9191fb90-8ebe-42d2-8844-1c82051521c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5F9C689785654EB9B889F9761905B7" ma:contentTypeVersion="15" ma:contentTypeDescription="Create a new document." ma:contentTypeScope="" ma:versionID="0216ed00dece637be4fdfd50b8033cf1">
  <xsd:schema xmlns:xsd="http://www.w3.org/2001/XMLSchema" xmlns:xs="http://www.w3.org/2001/XMLSchema" xmlns:p="http://schemas.microsoft.com/office/2006/metadata/properties" xmlns:ns3="bc191f90-c06e-486e-b1b0-dda142e97286" xmlns:ns4="7a5fe2fe-ecb7-47ba-a259-c450c1dbf94a" targetNamespace="http://schemas.microsoft.com/office/2006/metadata/properties" ma:root="true" ma:fieldsID="e8d1e6a123fcaff2f5088f67f2605709" ns3:_="" ns4:_="">
    <xsd:import namespace="bc191f90-c06e-486e-b1b0-dda142e97286"/>
    <xsd:import namespace="7a5fe2fe-ecb7-47ba-a259-c450c1dbf94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191f90-c06e-486e-b1b0-dda142e9728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5fe2fe-ecb7-47ba-a259-c450c1dbf94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c191f90-c06e-486e-b1b0-dda142e9728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78EC5E-894A-432A-BE18-6768D6A448A1}">
  <ds:schemaRefs>
    <ds:schemaRef ds:uri="7a5fe2fe-ecb7-47ba-a259-c450c1dbf94a"/>
    <ds:schemaRef ds:uri="bc191f90-c06e-486e-b1b0-dda142e972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907CE0B-5116-4D8D-B2AE-AB6A8690A093}">
  <ds:schemaRefs>
    <ds:schemaRef ds:uri="7a5fe2fe-ecb7-47ba-a259-c450c1dbf94a"/>
    <ds:schemaRef ds:uri="http://schemas.microsoft.com/office/2006/documentManagement/types"/>
    <ds:schemaRef ds:uri="http://www.w3.org/XML/1998/namespace"/>
    <ds:schemaRef ds:uri="http://purl.org/dc/elements/1.1/"/>
    <ds:schemaRef ds:uri="http://purl.org/dc/dcmitype/"/>
    <ds:schemaRef ds:uri="bc191f90-c06e-486e-b1b0-dda142e97286"/>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ECA5FF9D-6638-461D-B998-CD425D7E7D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1038</Words>
  <Application>Microsoft Office PowerPoint</Application>
  <PresentationFormat>Custom</PresentationFormat>
  <Paragraphs>121</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Trebuchet MS</vt:lpstr>
      <vt:lpstr>Template A</vt:lpstr>
      <vt:lpstr>Simulating Human Behaviour with AI Agents: An Overview of Digital Twins</vt:lpstr>
      <vt:lpstr>Test every SRH campaign idea on digital twins before going live</vt:lpstr>
      <vt:lpstr>What we need — and how the simulation runs</vt:lpstr>
      <vt:lpstr>The variables we'll request — 45 fields across the journey</vt:lpstr>
      <vt:lpstr>Expected outcomes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Mohit Chaurasiya</cp:lastModifiedBy>
  <cp:revision>1</cp:revision>
  <dcterms:created xsi:type="dcterms:W3CDTF">2026-06-22T11:21:11Z</dcterms:created>
  <dcterms:modified xsi:type="dcterms:W3CDTF">2026-06-24T06:45:08Z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0x010100995F9C689785654EB9B889F9761905B7</vt:lpwstr>
  </property>
</Properties>
</file>